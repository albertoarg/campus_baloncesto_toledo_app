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Soy Alberto Rodríguez González y presento mi Trabajo de Fin de Grado, tutorizado por José Ramón Sánchez Couso: Campus Baloncesto App, una aplicación multiplataforma y PWA para gestionar de forma integral un campus de baloncesto. Surge de mi experiencia como entrenador en el campus que se celebra en Toledo cada julio, donde cerca de cien chavales de distintas edades y niveles entrenan, compiten y hacen vida de campamento durante once días. En los próximos minutos os explicaré el problema que resuelve, las decisiones técnicas, la arquitectura, las funcionalidades —con foco en el tiempo real— y los resultados. La aplicación está además desplegada y en uso, accesible en campus-baloncesto.web.app.
En la memoria → resumen y estructura general del documento (apartado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Seguiré este guion, que coincide con la estructura de la memoria: primero el contexto y los objetivos; después el estado del arte y las decisiones tecnológicas con su arquitectura; luego las funcionalidades principales, deteniéndome en la generación de equipos, el tiempo real y las exportaciones; y cerraré con las pruebas, los resultados y las conclusiones. La idea es dar una visión completa del proyecto sin entrar en cada detalle, que queda recogido en el documento.
En la memoria → el documento sigue esta misma estructura por capítulos (apartado 1.4, «Estructura del documento»).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campus reúne cada edición a cerca de un centenar de jugadores de distintas edades y niveles, y toda su gestión se apoyaba en herramientas que no se hablan entre sí: una hoja de cálculo para las clasificaciones, un grupo de WhatsApp por equipo, folios para las estadísticas y una pizarra para los resultados. Eso genera errores, duplica trabajo y da una imagen poco profesional; la información se queda vieja enseguida y la comunicación se vuelve un caos con treinta o cuarenta personas en un grupo. A esto se sumó que la propia organización quería dar un salto informático y modernizar su imagen. La solución fue centralizarlo todo en una sola aplicación accesible desde cualquier dispositivo: los administradores trabajan desde el ordenador y entrenadores, jugadores y familias desde el móvil. Por 'gestión integral' entiendo cubrir el ciclo concreto del campus de principio a fin; los pagos y la facturación los dejé conscientemente fuera, como línea futura.
En la memoria → capítulo 1.1 «Contexto y motivación»; la planificación temporal está en el apartado 1.5 y la figura 1.1 (diagrama de Gantt).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era diseñar y desarrollar esa aplicación multiplataforma —app nativa en Android e iOS y PWA en navegador— que sustituyera lo manual por algo unificado, seguro y en tiempo real. De ahí salen los objetivos específicos: un sistema de autenticación con seis roles; la gestión de equipos con generación automática equilibrada; las competiciones con fase de grupos, eliminatorias y veladas, más el seguimiento en directo; el registro de estadísticas —puntos, rebotes, asistencias, robos y tapones— con sus rankings y el MVP; la gamificación y el jugador premium; los canales de comunicación; las dos exportaciones; la sincronización en tiempo real; las notificaciones push; y el despliegue como PWA instalable de acceso público.
En la memoria → capítulo 1.2 «Objetivos» y 1.3 «Alcance».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Trabajé con una metodología iterativa e incremental: en lugar de un único bloque, fui construyendo la aplicación módulo a módulo y probando cada funcionalidad nada más terminarla, ajustando sobre la marcha. El desarrollo se planificó de diciembre de 2025 a junio de 2026, y el diagrama de Gantt resume las fases —investigación y análisis, diseño, desarrollo por capas (front-end, base de datos y back-end), pruebas, paso a producción y memoria—, que en parte se solaparon. Como entorno usé Flutter con VS Code y control de versiones con Git, con el código alojado en un repositorio público de GitHub. Este enfoque, con entregas pequeñas y verificación continua, encajaba muy bien en un proyecto llevado por una sola persona.
En la memoria → apartado 1.5 «Planificación del proyecto» (figura 1.1, diagrama de Gantt) y 5.2 «Metodología y entorno de desarrollo».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decidir nada miré qué había. Por un lado, aplicaciones de gestión deportiva ya existentes, del estilo de TeamSnap o GameChanger: son potentes, pero están pensadas para ligas genéricas, suelen ser de pago y no encajan con las particularidades de un campus, que tiene competiciones por estaciones, veladas y competiciones de siesta. Por otro lado, comparé los frameworks multiplataforma —Flutter, React Native e Ionic— y los servicios backend —Supabase, Firebase y AWS Amplify—, valorando rendimiento, idoneidad del modelo de datos, coste y mantenibilidad. De ese análisis salieron las dos decisiones clave que veréis a continuación: Flutter para el cliente y Supabase para el backend.
En la memoria → capítulo 2 «Estado del Arte»: aplicaciones de gestión deportiva (2.1–2.2, tabla 2.1), frameworks (2.3, tabla 2.2) y servicios backend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Comparé las opciones en vez de elegir lo que más me sonaba. Para el cliente me decanté por Flutter, que era el que mejor equilibraba rendimiento nativo, consistencia visual entre plataformas y un soporte web suficientemente maduro, todo desde una sola base de código; frente a React Native o a Ionic, que corre sobre un WebView y pierde fluidez. Para el backend elegí Supabase, construido sobre PostgreSQL, porque me daba una base de datos relacional completa, seguridad a nivel de fila, tiempo real y autenticación ya hechos; para un dominio tan relacional como un campus encajaba mucho mejor que el NoSQL de Firebase. Acabé en una estrategia mixta: Supabase como backend principal, Firebase Cloud Messaging para las notificaciones, Firebase Hosting para la PWA y Cloudinary para las imágenes. Además, al ser Supabase de código abierto y con planes gratuitos generosos, abarata el mantenimiento y evita el vendor lock-in, algo crítico para una organización de base.
En la memoria → apartado 2.6 «Justificación de la solución propuesta», apoyado en las comparativas del capítulo 2 (tablas 2.1 y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aplicación sigue una Clean Architecture pero organizada por funcionalidades: en lugar de carpetas globales por tipo, cada módulo guarda sus propias capas de presentación, dominio y datos, con la dependencia siempre hacia el dominio. El código se divide en lib/core, con lo compartido —configuración, tema, enrutador y servicios globales—, y lib/features, con una carpeta por funcionalidad. El estado se gestiona con Riverpod y sus AsyncNotifier, cuyo tipo AsyncValue representa de forma explícita los estados de carga, dato y error; además los proveedores se componen entre sí, de modo que, por ejemplo, la clasificación se recalcula sola cuando cambian los partidos. La navegación es declarativa con go_router, que en la PWA refleja las rutas en la URL y permite enlaces directos, con guardas de acceso según la sesión. El stack completo está a la derecha.
En la memoria → capítulo 4: Clean Architecture (apartado 4.1, figura 4.1 y tabla 4.1), Riverpod (4.2, figura 4.2) y GoRouter (4.3, figura 4.3); el stack en la tabla 5.1 y el despliegue en la figura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son 20 tablas en PostgreSQL gestionadas por Supabase, con un diseño marcadamente relacional: tablas de entidad y de relación, como team_members, que modela la pertenencia de jugadores a equipos en muchos-a-muchos. La seguridad se apoya en dos pilares: la autenticación de Supabase y, sobre todo, las políticas de Row Level Security definidas en la propia base de datos. Cuando alguien se registra, un trigger crea su fila con el rol 'visitante' y un administrador lo promociona después. Defino seis roles —administrador, entrenador, jugador, jugador premium, familiar y visitante—, cada uno con un conjunto coherente de permisos. La clave de la RLS es que la autorización vive en el servidor: cada política es una expresión booleana que el motor evalúa fila a fila, así que la seguridad se mantiene aunque alguien acceda directamente a la API.
En la memoria → apartado 4.5 «Modelo de datos» (figura 4.4 y tabla 4.2), 4.6 «Diseño de seguridad y roles» y el detalle de tablas en el Anexo A (tabla A.1).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funcionalidades principales, derivadas de los casos de uso y de los requisitos: gestión de equipos y usuarios, generación automática de equipos, los formatos de competición, los partidos en directo, las estadísticas y rankings, el dashboard de administración, las exportaciones a PDF y Excel y las notificaciones push. Cada una está implementada como un módulo independiente dentro de lib/features. A continuación me detengo en las más representativas, que son también las que más aportan frente a las herramientas que se usaban antes.
En la memoria → capítulo 5 «Implementación» en conjunto, y los casos de uso del apartado 3.4 (figura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Uno de los problemas clásicos del campus era repartir a los jugadores en equipos parejos para que los partidos fueran competidos. El generador automático, implementado en el método autoGenerateBalancedTeams, parte de la edad, el nivel y la posición de cada jugador. Asigna a cada uno una puntuación de fuerza con una fórmula sencilla —el nivel pesa diez veces más que la edad: nivel por diez, más la edad—, separa a los jugadores por posiciones (pívots, bases y aleros) y reparte cada bloque, ordenado de más fuerte a más débil, con una heurística voraz tipo serpiente. En el fondo es un problema de partición equilibrada: una asignación al azar daría equipos descompensados y una optimización exhaustiva sería carísima, así que esta heurística logra un buen resultado a coste muy bajo. Además existen los equipos de partido, que se generan aparte y se excluyen del ranking de competición mediante el flag is_match_team.
En la memoria → apartados 5.4 «Gestión de equipos» y 5.5 «Generación automática» (caso de uso CU-01; figuras 5.5 a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tres formatos de competición. Las competiciones por estaciones, pruebas físicas y técnicas puntuadas por jornadas con una clasificación general. Las competiciones de siesta, que combinan liga y eliminatorias con su cuadro; aquí tuve que cuidar el desempate, replicando un esquema parecido al de la FIBA cuando dos participantes terminan con los mismos puntos. Y las veladas, actividades por equipos pensadas para la tarde-noche. Son justo el tipo de competiciones singulares de un campus que las herramientas genéricas no cubren bien, y por eso tenía sentido una solución propia.
En la memoria → apartados 5.6 «Competiciones por estaciones» (figuras 5.8–5.11), 5.7 «Competiciones de siesta» (figuras 5.12–5.15) y 5.8 «Veladas» (figuras 5.16–5.17).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fue la parte técnicamente más exigente, así que me detengo un poco. Lo normal en la web es el modelo petición–respuesta: el cliente pregunta y el servidor contesta; para enterarte de los cambios tendrías que estar preguntando sin parar. Un WebSocket, en cambio, es una conexión permanente y bidireccional: una vez abierta, el servidor puede empujar los datos al instante sin que el cliente pregunte. Los partidos en directo se apoyan en Supabase Realtime, que usa WebSockets por debajo: cada dispositivo se suscribe a la tabla live_matches y, cuando un entrenador suma puntos o faltas, se escribe en esa tabla, PostgreSQL detecta el cambio en su registro de replicación y Supabase lo retransmite por el WebSocket a todos los suscritos. Esas suscripciones se integran con los StreamProvider de Riverpod, de modo que el marcador se redibuja solo; medí la latencia y llega en menos de un segundo. Un detalle de diseño importante: aunque haya varios partidos a la vez, no abro una conexión por partido, sino una única suscripción a toda la tabla, y cada marcador filtra su propia fila de ese mismo flujo. Así el sistema escala sin conexiones extra y, al ser cada partido una fila independiente, no interfieren entre sí.
En la memoria → apartado 5.11 (caso de uso CU-02; figuras 5.21 y 5.22) y el requisito RF-13; la latencia se verifica en el capítulo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estadísticas se registran por jugador y partido en la tabla player_match_stats —puntos, rebotes, asistencias, robos, tapones y MVP— y de ahí se calculan los rankings de anotador, reboteador y asistente. El dashboard de administración concentra el control del campus: promocionar a un usuario recién registrado, corregir un equipo o abrir una competición, algo clave durante los días de campus, cuando el ritmo es alto. Y están las dos exportaciones: el servicio SiestaExportService genera el PDF con la clasificación y el cuadro de eliminatorias, y ExportService produce el Excel de las estaciones con una hoja por grupo y las puntuaciones por día más el total. Su comportamiento cambia entre la web y el móvil, así que las validé por separado en cada plataforma.
En la memoria → rankings y estadísticas (5.11, figuras 5.23–5.24), dashboard (5.13, figura 5.25) y exportaciones (5.15: PDF en 5.15.1 / figura 5.26, Excel en 5.15.2 / figura 5.27; caso de uso CU-03).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ve la aplicación real: el marcador en directo, los rankings del campus y el cuadro de una competición de siesta. Todas las pantallas están documentadas en la memoria. Está desplegada como PWA en Firebase Hosting y es de acceso público en campus-baloncesto.web.app, instalable desde el navegador sin pasar por las tiendas. (Si el tribunal lo permite, este es el momento de enseñarla funcionando en vivo.)
En la memoria → las capturas de todas las pantallas están en el capítulo 5 (figuras 5.1–5.27); el despliegue, en el apartado 5.16 y el Anexo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estrategia de pruebas fue principalmente manual e incremental: al terminar cada funcionalidad la probaba metiendo datos y navegando por las pantallas para validar el comportamiento antes de seguir. Después organicé una fase de pruebas beta con otros entrenadores del campus, que al usar la aplicación con libertad destaparon fallos y detalles de usabilidad que a mí se me escapaban por conocerla demasiado. Gracias a ellos corregí cosas como pantallas que no se refrescaban, un límite de correos al registrar, los cuadros de eliminatorias en orden invertido o un Excel que en algún caso salía vacío. Reconozco que un conjunto de pruebas automatizadas habría dado más garantías, y lo dejo como línea de mejora.
En la memoria → capítulo 6 «Pruebas»: estrategia (6.2), casos de prueba (tabla 6.1) y pruebas beta con entrenadores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7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035040" y="1554480"/>
            <a:ext cx="3840480" cy="3840480"/>
          </a:xfrm>
          <a:prstGeom prst="rect">
            <a:avLst/>
          </a:prstGeom>
        </p:spPr>
      </p:pic>
      <p:sp>
        <p:nvSpPr>
          <p:cNvPr id="3" name="Shape 0"/>
          <p:cNvSpPr/>
          <p:nvPr/>
        </p:nvSpPr>
        <p:spPr>
          <a:xfrm>
            <a:off x="822960" y="914400"/>
            <a:ext cx="502920" cy="82296"/>
          </a:xfrm>
          <a:prstGeom prst="rect">
            <a:avLst/>
          </a:prstGeom>
          <a:solidFill>
            <a:srgbClr val="E2711D"/>
          </a:solidFill>
          <a:ln/>
        </p:spPr>
      </p:sp>
      <p:sp>
        <p:nvSpPr>
          <p:cNvPr id="4" name="Text 1"/>
          <p:cNvSpPr/>
          <p:nvPr/>
        </p:nvSpPr>
        <p:spPr>
          <a:xfrm>
            <a:off x="822960" y="1078992"/>
            <a:ext cx="7315200" cy="274320"/>
          </a:xfrm>
          <a:prstGeom prst="rect">
            <a:avLst/>
          </a:prstGeom>
          <a:noFill/>
          <a:ln/>
        </p:spPr>
        <p:txBody>
          <a:bodyPr wrap="square" lIns="0" tIns="0" rIns="0" bIns="0" rtlCol="0" anchor="ctr"/>
          <a:lstStyle/>
          <a:p>
            <a:pPr indent="0" marL="0">
              <a:buNone/>
            </a:pPr>
            <a:r>
              <a:rPr lang="en-US" sz="1200" b="1" spc="100" kern="0" dirty="0">
                <a:solidFill>
                  <a:srgbClr val="F4A259"/>
                </a:solidFill>
                <a:latin typeface="Trebuchet MS" pitchFamily="34" charset="0"/>
                <a:ea typeface="Trebuchet MS" pitchFamily="34" charset="-122"/>
                <a:cs typeface="Trebuchet MS" pitchFamily="34" charset="-120"/>
              </a:rPr>
              <a:t>UNIVERSIDAD POLITÉCNICA DE MADRID · ETSIINF</a:t>
            </a:r>
            <a:endParaRPr lang="en-US" sz="1200" dirty="0"/>
          </a:p>
        </p:txBody>
      </p:sp>
      <p:sp>
        <p:nvSpPr>
          <p:cNvPr id="5" name="Text 2"/>
          <p:cNvSpPr/>
          <p:nvPr/>
        </p:nvSpPr>
        <p:spPr>
          <a:xfrm>
            <a:off x="822960" y="1417320"/>
            <a:ext cx="7680960" cy="1828800"/>
          </a:xfrm>
          <a:prstGeom prst="rect">
            <a:avLst/>
          </a:prstGeom>
          <a:noFill/>
          <a:ln/>
        </p:spPr>
        <p:txBody>
          <a:bodyPr wrap="square" lIns="0" tIns="0" rIns="0" bIns="0" rtlCol="0" anchor="t"/>
          <a:lstStyle/>
          <a:p>
            <a:pPr indent="0" marL="0">
              <a:lnSpc>
                <a:spcPct val="104000"/>
              </a:lnSpc>
              <a:buNone/>
            </a:pPr>
            <a:r>
              <a:rPr lang="en-US" sz="2700" dirty="0">
                <a:solidFill>
                  <a:srgbClr val="FFFFFF"/>
                </a:solidFill>
                <a:latin typeface="Arial Black" pitchFamily="34" charset="0"/>
                <a:ea typeface="Arial Black" pitchFamily="34" charset="-122"/>
                <a:cs typeface="Arial Black" pitchFamily="34" charset="-120"/>
              </a:rPr>
              <a:t>Aplicación multiplataforma y PWA para la gestión integral de un campus de baloncesto</a:t>
            </a:r>
            <a:endParaRPr lang="en-US" sz="2700" dirty="0"/>
          </a:p>
        </p:txBody>
      </p:sp>
      <p:sp>
        <p:nvSpPr>
          <p:cNvPr id="6" name="Text 3"/>
          <p:cNvSpPr/>
          <p:nvPr/>
        </p:nvSpPr>
        <p:spPr>
          <a:xfrm>
            <a:off x="822960" y="3291840"/>
            <a:ext cx="7315200" cy="320040"/>
          </a:xfrm>
          <a:prstGeom prst="rect">
            <a:avLst/>
          </a:prstGeom>
          <a:noFill/>
          <a:ln/>
        </p:spPr>
        <p:txBody>
          <a:bodyPr wrap="square" lIns="0" tIns="0" rIns="0" bIns="0" rtlCol="0" anchor="ctr"/>
          <a:lstStyle/>
          <a:p>
            <a:pPr indent="0" marL="0">
              <a:buNone/>
            </a:pPr>
            <a:r>
              <a:rPr lang="en-US" sz="1400" i="1" dirty="0">
                <a:solidFill>
                  <a:srgbClr val="C9C4BC"/>
                </a:solidFill>
                <a:latin typeface="Calibri" pitchFamily="34" charset="0"/>
                <a:ea typeface="Calibri" pitchFamily="34" charset="-122"/>
                <a:cs typeface="Calibri" pitchFamily="34" charset="-120"/>
              </a:rPr>
              <a:t>Trabajo de Fin de Grado · Grado en Ingeniería de Software</a:t>
            </a:r>
            <a:endParaRPr lang="en-US" sz="1400" dirty="0"/>
          </a:p>
        </p:txBody>
      </p:sp>
      <p:sp>
        <p:nvSpPr>
          <p:cNvPr id="7" name="Text 4"/>
          <p:cNvSpPr/>
          <p:nvPr/>
        </p:nvSpPr>
        <p:spPr>
          <a:xfrm>
            <a:off x="822960" y="3977640"/>
            <a:ext cx="7863840" cy="365760"/>
          </a:xfrm>
          <a:prstGeom prst="rect">
            <a:avLst/>
          </a:prstGeom>
          <a:noFill/>
          <a:ln/>
        </p:spPr>
        <p:txBody>
          <a:bodyPr wrap="square" lIns="0" tIns="0" rIns="0" bIns="0" rtlCol="0" anchor="ctr"/>
          <a:lstStyle/>
          <a:p>
            <a:pPr indent="0" marL="0">
              <a:buNone/>
            </a:pPr>
            <a:r>
              <a:rPr lang="en-US" sz="1300" b="1" dirty="0">
                <a:solidFill>
                  <a:srgbClr val="F4A259"/>
                </a:solidFill>
                <a:latin typeface="Calibri" pitchFamily="34" charset="0"/>
                <a:ea typeface="Calibri" pitchFamily="34" charset="-122"/>
                <a:cs typeface="Calibri" pitchFamily="34" charset="-120"/>
              </a:rPr>
              <a:t>Autor:  </a:t>
            </a:r>
            <a:pPr indent="0" marL="0">
              <a:buNone/>
            </a:pPr>
            <a:r>
              <a:rPr lang="en-US" sz="1300" dirty="0">
                <a:solidFill>
                  <a:srgbClr val="FFFFFF"/>
                </a:solidFill>
                <a:latin typeface="Calibri" pitchFamily="34" charset="0"/>
                <a:ea typeface="Calibri" pitchFamily="34" charset="-122"/>
                <a:cs typeface="Calibri" pitchFamily="34" charset="-120"/>
              </a:rPr>
              <a:t>Alberto Rodríguez González</a:t>
            </a:r>
            <a:pPr indent="0" marL="0">
              <a:buNone/>
            </a:pPr>
            <a:r>
              <a:rPr lang="en-US" sz="1300" b="1" dirty="0">
                <a:solidFill>
                  <a:srgbClr val="F4A259"/>
                </a:solidFill>
                <a:latin typeface="Calibri" pitchFamily="34" charset="0"/>
                <a:ea typeface="Calibri" pitchFamily="34" charset="-122"/>
                <a:cs typeface="Calibri" pitchFamily="34" charset="-120"/>
              </a:rPr>
              <a:t>      Tutor:  </a:t>
            </a:r>
            <a:pPr indent="0" marL="0">
              <a:buNone/>
            </a:pPr>
            <a:r>
              <a:rPr lang="en-US" sz="1300" dirty="0">
                <a:solidFill>
                  <a:srgbClr val="FFFFFF"/>
                </a:solidFill>
                <a:latin typeface="Calibri" pitchFamily="34" charset="0"/>
                <a:ea typeface="Calibri" pitchFamily="34" charset="-122"/>
                <a:cs typeface="Calibri" pitchFamily="34" charset="-120"/>
              </a:rPr>
              <a:t>José Ramón Sánchez Couso</a:t>
            </a:r>
            <a:endParaRPr lang="en-US" sz="1300" dirty="0"/>
          </a:p>
        </p:txBody>
      </p:sp>
      <p:sp>
        <p:nvSpPr>
          <p:cNvPr id="8" name="Text 5"/>
          <p:cNvSpPr/>
          <p:nvPr/>
        </p:nvSpPr>
        <p:spPr>
          <a:xfrm>
            <a:off x="822960" y="4370832"/>
            <a:ext cx="7315200" cy="274320"/>
          </a:xfrm>
          <a:prstGeom prst="rect">
            <a:avLst/>
          </a:prstGeom>
          <a:noFill/>
          <a:ln/>
        </p:spPr>
        <p:txBody>
          <a:bodyPr wrap="square" lIns="0" tIns="0" rIns="0" bIns="0" rtlCol="0" anchor="ctr"/>
          <a:lstStyle/>
          <a:p>
            <a:pPr indent="0" marL="0">
              <a:buNone/>
            </a:pPr>
            <a:r>
              <a:rPr lang="en-US" sz="1200" dirty="0">
                <a:solidFill>
                  <a:srgbClr val="6E6E73"/>
                </a:solidFill>
                <a:latin typeface="Calibri" pitchFamily="34" charset="0"/>
                <a:ea typeface="Calibri" pitchFamily="34" charset="-122"/>
                <a:cs typeface="Calibri" pitchFamily="34" charset="-120"/>
              </a:rPr>
              <a:t>Madrid, junio de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GUION DE LA DEFENSA</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Índice</a:t>
            </a:r>
            <a:endParaRPr lang="en-US" sz="2600" dirty="0"/>
          </a:p>
        </p:txBody>
      </p:sp>
      <p:sp>
        <p:nvSpPr>
          <p:cNvPr id="5" name="Shape 3"/>
          <p:cNvSpPr/>
          <p:nvPr/>
        </p:nvSpPr>
        <p:spPr>
          <a:xfrm>
            <a:off x="548640" y="1508760"/>
            <a:ext cx="4069080" cy="868680"/>
          </a:xfrm>
          <a:prstGeom prst="roundRect">
            <a:avLst>
              <a:gd name="adj" fmla="val 6316"/>
            </a:avLst>
          </a:prstGeom>
          <a:solidFill>
            <a:srgbClr val="F6F2EC"/>
          </a:solidFill>
          <a:ln w="12700">
            <a:solidFill>
              <a:srgbClr val="E7E2DA"/>
            </a:solidFill>
            <a:prstDash val="solid"/>
          </a:ln>
        </p:spPr>
      </p:sp>
      <p:sp>
        <p:nvSpPr>
          <p:cNvPr id="6" name="Text 4"/>
          <p:cNvSpPr/>
          <p:nvPr/>
        </p:nvSpPr>
        <p:spPr>
          <a:xfrm>
            <a:off x="713232" y="1600200"/>
            <a:ext cx="822960" cy="685800"/>
          </a:xfrm>
          <a:prstGeom prst="rect">
            <a:avLst/>
          </a:prstGeom>
          <a:noFill/>
          <a:ln/>
        </p:spPr>
        <p:txBody>
          <a:bodyPr wrap="square" lIns="0" tIns="0" rIns="0" bIns="0" rtlCol="0" anchor="ctr"/>
          <a:lstStyle/>
          <a:p>
            <a:pPr indent="0" marL="0">
              <a:buNone/>
            </a:pPr>
            <a:r>
              <a:rPr lang="en-US" sz="3000" dirty="0">
                <a:solidFill>
                  <a:srgbClr val="F4A259"/>
                </a:solidFill>
                <a:latin typeface="Arial Black" pitchFamily="34" charset="0"/>
                <a:ea typeface="Arial Black" pitchFamily="34" charset="-122"/>
                <a:cs typeface="Arial Black" pitchFamily="34" charset="-120"/>
              </a:rPr>
              <a:t>01</a:t>
            </a:r>
            <a:endParaRPr lang="en-US" sz="3000" dirty="0"/>
          </a:p>
        </p:txBody>
      </p:sp>
      <p:sp>
        <p:nvSpPr>
          <p:cNvPr id="7" name="Shape 5"/>
          <p:cNvSpPr/>
          <p:nvPr/>
        </p:nvSpPr>
        <p:spPr>
          <a:xfrm>
            <a:off x="3840480" y="1691640"/>
            <a:ext cx="502920" cy="50292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8" name="Image 0" descr="preencoded.png">    </p:cNvPr>
          <p:cNvPicPr>
            <a:picLocks noChangeAspect="1"/>
          </p:cNvPicPr>
          <p:nvPr/>
        </p:nvPicPr>
        <p:blipFill>
          <a:blip r:embed="rId1"/>
          <a:stretch>
            <a:fillRect/>
          </a:stretch>
        </p:blipFill>
        <p:spPr>
          <a:xfrm>
            <a:off x="3961181" y="1812341"/>
            <a:ext cx="261518" cy="261518"/>
          </a:xfrm>
          <a:prstGeom prst="rect">
            <a:avLst/>
          </a:prstGeom>
        </p:spPr>
      </p:pic>
      <p:sp>
        <p:nvSpPr>
          <p:cNvPr id="9" name="Text 6"/>
          <p:cNvSpPr/>
          <p:nvPr/>
        </p:nvSpPr>
        <p:spPr>
          <a:xfrm>
            <a:off x="1600200" y="1508760"/>
            <a:ext cx="2148840" cy="868680"/>
          </a:xfrm>
          <a:prstGeom prst="rect">
            <a:avLst/>
          </a:prstGeom>
          <a:noFill/>
          <a:ln/>
        </p:spPr>
        <p:txBody>
          <a:bodyPr wrap="square" lIns="0" tIns="0" rIns="0" bIns="0" rtlCol="0" anchor="ctr"/>
          <a:lstStyle/>
          <a:p>
            <a:pPr indent="0" marL="0">
              <a:buNone/>
            </a:pPr>
            <a:r>
              <a:rPr lang="en-US" sz="1550" b="1" dirty="0">
                <a:solidFill>
                  <a:srgbClr val="1F1F23"/>
                </a:solidFill>
                <a:latin typeface="Trebuchet MS" pitchFamily="34" charset="0"/>
                <a:ea typeface="Trebuchet MS" pitchFamily="34" charset="-122"/>
                <a:cs typeface="Trebuchet MS" pitchFamily="34" charset="-120"/>
              </a:rPr>
              <a:t>Contexto y motivación</a:t>
            </a:r>
            <a:endParaRPr lang="en-US" sz="1550" dirty="0"/>
          </a:p>
        </p:txBody>
      </p:sp>
      <p:sp>
        <p:nvSpPr>
          <p:cNvPr id="10" name="Shape 7"/>
          <p:cNvSpPr/>
          <p:nvPr/>
        </p:nvSpPr>
        <p:spPr>
          <a:xfrm>
            <a:off x="4937760" y="1508760"/>
            <a:ext cx="4069080" cy="868680"/>
          </a:xfrm>
          <a:prstGeom prst="roundRect">
            <a:avLst>
              <a:gd name="adj" fmla="val 6316"/>
            </a:avLst>
          </a:prstGeom>
          <a:solidFill>
            <a:srgbClr val="F6F2EC"/>
          </a:solidFill>
          <a:ln w="12700">
            <a:solidFill>
              <a:srgbClr val="E7E2DA"/>
            </a:solidFill>
            <a:prstDash val="solid"/>
          </a:ln>
        </p:spPr>
      </p:sp>
      <p:sp>
        <p:nvSpPr>
          <p:cNvPr id="11" name="Text 8"/>
          <p:cNvSpPr/>
          <p:nvPr/>
        </p:nvSpPr>
        <p:spPr>
          <a:xfrm>
            <a:off x="5102352" y="1600200"/>
            <a:ext cx="822960" cy="685800"/>
          </a:xfrm>
          <a:prstGeom prst="rect">
            <a:avLst/>
          </a:prstGeom>
          <a:noFill/>
          <a:ln/>
        </p:spPr>
        <p:txBody>
          <a:bodyPr wrap="square" lIns="0" tIns="0" rIns="0" bIns="0" rtlCol="0" anchor="ctr"/>
          <a:lstStyle/>
          <a:p>
            <a:pPr indent="0" marL="0">
              <a:buNone/>
            </a:pPr>
            <a:r>
              <a:rPr lang="en-US" sz="3000" dirty="0">
                <a:solidFill>
                  <a:srgbClr val="F4A259"/>
                </a:solidFill>
                <a:latin typeface="Arial Black" pitchFamily="34" charset="0"/>
                <a:ea typeface="Arial Black" pitchFamily="34" charset="-122"/>
                <a:cs typeface="Arial Black" pitchFamily="34" charset="-120"/>
              </a:rPr>
              <a:t>02</a:t>
            </a:r>
            <a:endParaRPr lang="en-US" sz="3000" dirty="0"/>
          </a:p>
        </p:txBody>
      </p:sp>
      <p:sp>
        <p:nvSpPr>
          <p:cNvPr id="12" name="Shape 9"/>
          <p:cNvSpPr/>
          <p:nvPr/>
        </p:nvSpPr>
        <p:spPr>
          <a:xfrm>
            <a:off x="8229600" y="1691640"/>
            <a:ext cx="502920" cy="50292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3" name="Image 1" descr="preencoded.png">    </p:cNvPr>
          <p:cNvPicPr>
            <a:picLocks noChangeAspect="1"/>
          </p:cNvPicPr>
          <p:nvPr/>
        </p:nvPicPr>
        <p:blipFill>
          <a:blip r:embed="rId2"/>
          <a:stretch>
            <a:fillRect/>
          </a:stretch>
        </p:blipFill>
        <p:spPr>
          <a:xfrm>
            <a:off x="8350301" y="1812341"/>
            <a:ext cx="261518" cy="261518"/>
          </a:xfrm>
          <a:prstGeom prst="rect">
            <a:avLst/>
          </a:prstGeom>
        </p:spPr>
      </p:pic>
      <p:sp>
        <p:nvSpPr>
          <p:cNvPr id="14" name="Text 10"/>
          <p:cNvSpPr/>
          <p:nvPr/>
        </p:nvSpPr>
        <p:spPr>
          <a:xfrm>
            <a:off x="5989320" y="1508760"/>
            <a:ext cx="2148840" cy="868680"/>
          </a:xfrm>
          <a:prstGeom prst="rect">
            <a:avLst/>
          </a:prstGeom>
          <a:noFill/>
          <a:ln/>
        </p:spPr>
        <p:txBody>
          <a:bodyPr wrap="square" lIns="0" tIns="0" rIns="0" bIns="0" rtlCol="0" anchor="ctr"/>
          <a:lstStyle/>
          <a:p>
            <a:pPr indent="0" marL="0">
              <a:buNone/>
            </a:pPr>
            <a:r>
              <a:rPr lang="en-US" sz="1550" b="1" dirty="0">
                <a:solidFill>
                  <a:srgbClr val="1F1F23"/>
                </a:solidFill>
                <a:latin typeface="Trebuchet MS" pitchFamily="34" charset="0"/>
                <a:ea typeface="Trebuchet MS" pitchFamily="34" charset="-122"/>
                <a:cs typeface="Trebuchet MS" pitchFamily="34" charset="-120"/>
              </a:rPr>
              <a:t>Objetivos y planificación</a:t>
            </a:r>
            <a:endParaRPr lang="en-US" sz="1550" dirty="0"/>
          </a:p>
        </p:txBody>
      </p:sp>
      <p:sp>
        <p:nvSpPr>
          <p:cNvPr id="15" name="Shape 11"/>
          <p:cNvSpPr/>
          <p:nvPr/>
        </p:nvSpPr>
        <p:spPr>
          <a:xfrm>
            <a:off x="548640" y="2633472"/>
            <a:ext cx="4069080" cy="868680"/>
          </a:xfrm>
          <a:prstGeom prst="roundRect">
            <a:avLst>
              <a:gd name="adj" fmla="val 6316"/>
            </a:avLst>
          </a:prstGeom>
          <a:solidFill>
            <a:srgbClr val="F6F2EC"/>
          </a:solidFill>
          <a:ln w="12700">
            <a:solidFill>
              <a:srgbClr val="E7E2DA"/>
            </a:solidFill>
            <a:prstDash val="solid"/>
          </a:ln>
        </p:spPr>
      </p:sp>
      <p:sp>
        <p:nvSpPr>
          <p:cNvPr id="16" name="Text 12"/>
          <p:cNvSpPr/>
          <p:nvPr/>
        </p:nvSpPr>
        <p:spPr>
          <a:xfrm>
            <a:off x="713232" y="2724912"/>
            <a:ext cx="822960" cy="685800"/>
          </a:xfrm>
          <a:prstGeom prst="rect">
            <a:avLst/>
          </a:prstGeom>
          <a:noFill/>
          <a:ln/>
        </p:spPr>
        <p:txBody>
          <a:bodyPr wrap="square" lIns="0" tIns="0" rIns="0" bIns="0" rtlCol="0" anchor="ctr"/>
          <a:lstStyle/>
          <a:p>
            <a:pPr indent="0" marL="0">
              <a:buNone/>
            </a:pPr>
            <a:r>
              <a:rPr lang="en-US" sz="3000" dirty="0">
                <a:solidFill>
                  <a:srgbClr val="F4A259"/>
                </a:solidFill>
                <a:latin typeface="Arial Black" pitchFamily="34" charset="0"/>
                <a:ea typeface="Arial Black" pitchFamily="34" charset="-122"/>
                <a:cs typeface="Arial Black" pitchFamily="34" charset="-120"/>
              </a:rPr>
              <a:t>03</a:t>
            </a:r>
            <a:endParaRPr lang="en-US" sz="3000" dirty="0"/>
          </a:p>
        </p:txBody>
      </p:sp>
      <p:sp>
        <p:nvSpPr>
          <p:cNvPr id="17" name="Shape 13"/>
          <p:cNvSpPr/>
          <p:nvPr/>
        </p:nvSpPr>
        <p:spPr>
          <a:xfrm>
            <a:off x="3840480" y="2816352"/>
            <a:ext cx="502920" cy="50292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8" name="Image 2" descr="preencoded.png">    </p:cNvPr>
          <p:cNvPicPr>
            <a:picLocks noChangeAspect="1"/>
          </p:cNvPicPr>
          <p:nvPr/>
        </p:nvPicPr>
        <p:blipFill>
          <a:blip r:embed="rId3"/>
          <a:stretch>
            <a:fillRect/>
          </a:stretch>
        </p:blipFill>
        <p:spPr>
          <a:xfrm>
            <a:off x="3961181" y="2937053"/>
            <a:ext cx="261518" cy="261518"/>
          </a:xfrm>
          <a:prstGeom prst="rect">
            <a:avLst/>
          </a:prstGeom>
        </p:spPr>
      </p:pic>
      <p:sp>
        <p:nvSpPr>
          <p:cNvPr id="19" name="Text 14"/>
          <p:cNvSpPr/>
          <p:nvPr/>
        </p:nvSpPr>
        <p:spPr>
          <a:xfrm>
            <a:off x="1600200" y="2633472"/>
            <a:ext cx="2148840" cy="868680"/>
          </a:xfrm>
          <a:prstGeom prst="rect">
            <a:avLst/>
          </a:prstGeom>
          <a:noFill/>
          <a:ln/>
        </p:spPr>
        <p:txBody>
          <a:bodyPr wrap="square" lIns="0" tIns="0" rIns="0" bIns="0" rtlCol="0" anchor="ctr"/>
          <a:lstStyle/>
          <a:p>
            <a:pPr indent="0" marL="0">
              <a:buNone/>
            </a:pPr>
            <a:r>
              <a:rPr lang="en-US" sz="1550" b="1" dirty="0">
                <a:solidFill>
                  <a:srgbClr val="1F1F23"/>
                </a:solidFill>
                <a:latin typeface="Trebuchet MS" pitchFamily="34" charset="0"/>
                <a:ea typeface="Trebuchet MS" pitchFamily="34" charset="-122"/>
                <a:cs typeface="Trebuchet MS" pitchFamily="34" charset="-120"/>
              </a:rPr>
              <a:t>Estado del arte y tecnologías</a:t>
            </a:r>
            <a:endParaRPr lang="en-US" sz="1550" dirty="0"/>
          </a:p>
        </p:txBody>
      </p:sp>
      <p:sp>
        <p:nvSpPr>
          <p:cNvPr id="20" name="Shape 15"/>
          <p:cNvSpPr/>
          <p:nvPr/>
        </p:nvSpPr>
        <p:spPr>
          <a:xfrm>
            <a:off x="4937760" y="2633472"/>
            <a:ext cx="4069080" cy="868680"/>
          </a:xfrm>
          <a:prstGeom prst="roundRect">
            <a:avLst>
              <a:gd name="adj" fmla="val 6316"/>
            </a:avLst>
          </a:prstGeom>
          <a:solidFill>
            <a:srgbClr val="F6F2EC"/>
          </a:solidFill>
          <a:ln w="12700">
            <a:solidFill>
              <a:srgbClr val="E7E2DA"/>
            </a:solidFill>
            <a:prstDash val="solid"/>
          </a:ln>
        </p:spPr>
      </p:sp>
      <p:sp>
        <p:nvSpPr>
          <p:cNvPr id="21" name="Text 16"/>
          <p:cNvSpPr/>
          <p:nvPr/>
        </p:nvSpPr>
        <p:spPr>
          <a:xfrm>
            <a:off x="5102352" y="2724912"/>
            <a:ext cx="822960" cy="685800"/>
          </a:xfrm>
          <a:prstGeom prst="rect">
            <a:avLst/>
          </a:prstGeom>
          <a:noFill/>
          <a:ln/>
        </p:spPr>
        <p:txBody>
          <a:bodyPr wrap="square" lIns="0" tIns="0" rIns="0" bIns="0" rtlCol="0" anchor="ctr"/>
          <a:lstStyle/>
          <a:p>
            <a:pPr indent="0" marL="0">
              <a:buNone/>
            </a:pPr>
            <a:r>
              <a:rPr lang="en-US" sz="3000" dirty="0">
                <a:solidFill>
                  <a:srgbClr val="F4A259"/>
                </a:solidFill>
                <a:latin typeface="Arial Black" pitchFamily="34" charset="0"/>
                <a:ea typeface="Arial Black" pitchFamily="34" charset="-122"/>
                <a:cs typeface="Arial Black" pitchFamily="34" charset="-120"/>
              </a:rPr>
              <a:t>04</a:t>
            </a:r>
            <a:endParaRPr lang="en-US" sz="3000" dirty="0"/>
          </a:p>
        </p:txBody>
      </p:sp>
      <p:sp>
        <p:nvSpPr>
          <p:cNvPr id="22" name="Shape 17"/>
          <p:cNvSpPr/>
          <p:nvPr/>
        </p:nvSpPr>
        <p:spPr>
          <a:xfrm>
            <a:off x="8229600" y="2816352"/>
            <a:ext cx="502920" cy="50292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23" name="Image 3" descr="preencoded.png">    </p:cNvPr>
          <p:cNvPicPr>
            <a:picLocks noChangeAspect="1"/>
          </p:cNvPicPr>
          <p:nvPr/>
        </p:nvPicPr>
        <p:blipFill>
          <a:blip r:embed="rId4"/>
          <a:stretch>
            <a:fillRect/>
          </a:stretch>
        </p:blipFill>
        <p:spPr>
          <a:xfrm>
            <a:off x="8350301" y="2937053"/>
            <a:ext cx="261518" cy="261518"/>
          </a:xfrm>
          <a:prstGeom prst="rect">
            <a:avLst/>
          </a:prstGeom>
        </p:spPr>
      </p:pic>
      <p:sp>
        <p:nvSpPr>
          <p:cNvPr id="24" name="Text 18"/>
          <p:cNvSpPr/>
          <p:nvPr/>
        </p:nvSpPr>
        <p:spPr>
          <a:xfrm>
            <a:off x="5989320" y="2633472"/>
            <a:ext cx="2148840" cy="868680"/>
          </a:xfrm>
          <a:prstGeom prst="rect">
            <a:avLst/>
          </a:prstGeom>
          <a:noFill/>
          <a:ln/>
        </p:spPr>
        <p:txBody>
          <a:bodyPr wrap="square" lIns="0" tIns="0" rIns="0" bIns="0" rtlCol="0" anchor="ctr"/>
          <a:lstStyle/>
          <a:p>
            <a:pPr indent="0" marL="0">
              <a:buNone/>
            </a:pPr>
            <a:r>
              <a:rPr lang="en-US" sz="1550" b="1" dirty="0">
                <a:solidFill>
                  <a:srgbClr val="1F1F23"/>
                </a:solidFill>
                <a:latin typeface="Trebuchet MS" pitchFamily="34" charset="0"/>
                <a:ea typeface="Trebuchet MS" pitchFamily="34" charset="-122"/>
                <a:cs typeface="Trebuchet MS" pitchFamily="34" charset="-120"/>
              </a:rPr>
              <a:t>Arquitectura y funcionalidades</a:t>
            </a:r>
            <a:endParaRPr lang="en-US" sz="1550" dirty="0"/>
          </a:p>
        </p:txBody>
      </p:sp>
      <p:sp>
        <p:nvSpPr>
          <p:cNvPr id="25" name="Shape 19"/>
          <p:cNvSpPr/>
          <p:nvPr/>
        </p:nvSpPr>
        <p:spPr>
          <a:xfrm>
            <a:off x="548640" y="3758184"/>
            <a:ext cx="4069080" cy="868680"/>
          </a:xfrm>
          <a:prstGeom prst="roundRect">
            <a:avLst>
              <a:gd name="adj" fmla="val 6316"/>
            </a:avLst>
          </a:prstGeom>
          <a:solidFill>
            <a:srgbClr val="F6F2EC"/>
          </a:solidFill>
          <a:ln w="12700">
            <a:solidFill>
              <a:srgbClr val="E7E2DA"/>
            </a:solidFill>
            <a:prstDash val="solid"/>
          </a:ln>
        </p:spPr>
      </p:sp>
      <p:sp>
        <p:nvSpPr>
          <p:cNvPr id="26" name="Text 20"/>
          <p:cNvSpPr/>
          <p:nvPr/>
        </p:nvSpPr>
        <p:spPr>
          <a:xfrm>
            <a:off x="713232" y="3849624"/>
            <a:ext cx="822960" cy="685800"/>
          </a:xfrm>
          <a:prstGeom prst="rect">
            <a:avLst/>
          </a:prstGeom>
          <a:noFill/>
          <a:ln/>
        </p:spPr>
        <p:txBody>
          <a:bodyPr wrap="square" lIns="0" tIns="0" rIns="0" bIns="0" rtlCol="0" anchor="ctr"/>
          <a:lstStyle/>
          <a:p>
            <a:pPr indent="0" marL="0">
              <a:buNone/>
            </a:pPr>
            <a:r>
              <a:rPr lang="en-US" sz="3000" dirty="0">
                <a:solidFill>
                  <a:srgbClr val="F4A259"/>
                </a:solidFill>
                <a:latin typeface="Arial Black" pitchFamily="34" charset="0"/>
                <a:ea typeface="Arial Black" pitchFamily="34" charset="-122"/>
                <a:cs typeface="Arial Black" pitchFamily="34" charset="-120"/>
              </a:rPr>
              <a:t>05</a:t>
            </a:r>
            <a:endParaRPr lang="en-US" sz="3000" dirty="0"/>
          </a:p>
        </p:txBody>
      </p:sp>
      <p:sp>
        <p:nvSpPr>
          <p:cNvPr id="27" name="Shape 21"/>
          <p:cNvSpPr/>
          <p:nvPr/>
        </p:nvSpPr>
        <p:spPr>
          <a:xfrm>
            <a:off x="3840480" y="3941064"/>
            <a:ext cx="502920" cy="50292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28" name="Image 4" descr="preencoded.png">    </p:cNvPr>
          <p:cNvPicPr>
            <a:picLocks noChangeAspect="1"/>
          </p:cNvPicPr>
          <p:nvPr/>
        </p:nvPicPr>
        <p:blipFill>
          <a:blip r:embed="rId5"/>
          <a:stretch>
            <a:fillRect/>
          </a:stretch>
        </p:blipFill>
        <p:spPr>
          <a:xfrm>
            <a:off x="3961181" y="4061765"/>
            <a:ext cx="261518" cy="261518"/>
          </a:xfrm>
          <a:prstGeom prst="rect">
            <a:avLst/>
          </a:prstGeom>
        </p:spPr>
      </p:pic>
      <p:sp>
        <p:nvSpPr>
          <p:cNvPr id="29" name="Text 22"/>
          <p:cNvSpPr/>
          <p:nvPr/>
        </p:nvSpPr>
        <p:spPr>
          <a:xfrm>
            <a:off x="1600200" y="3758184"/>
            <a:ext cx="2148840" cy="868680"/>
          </a:xfrm>
          <a:prstGeom prst="rect">
            <a:avLst/>
          </a:prstGeom>
          <a:noFill/>
          <a:ln/>
        </p:spPr>
        <p:txBody>
          <a:bodyPr wrap="square" lIns="0" tIns="0" rIns="0" bIns="0" rtlCol="0" anchor="ctr"/>
          <a:lstStyle/>
          <a:p>
            <a:pPr indent="0" marL="0">
              <a:buNone/>
            </a:pPr>
            <a:r>
              <a:rPr lang="en-US" sz="1550" b="1" dirty="0">
                <a:solidFill>
                  <a:srgbClr val="1F1F23"/>
                </a:solidFill>
                <a:latin typeface="Trebuchet MS" pitchFamily="34" charset="0"/>
                <a:ea typeface="Trebuchet MS" pitchFamily="34" charset="-122"/>
                <a:cs typeface="Trebuchet MS" pitchFamily="34" charset="-120"/>
              </a:rPr>
              <a:t>Tiempo real y exportaciones</a:t>
            </a:r>
            <a:endParaRPr lang="en-US" sz="1550" dirty="0"/>
          </a:p>
        </p:txBody>
      </p:sp>
      <p:sp>
        <p:nvSpPr>
          <p:cNvPr id="30" name="Shape 23"/>
          <p:cNvSpPr/>
          <p:nvPr/>
        </p:nvSpPr>
        <p:spPr>
          <a:xfrm>
            <a:off x="4937760" y="3758184"/>
            <a:ext cx="4069080" cy="868680"/>
          </a:xfrm>
          <a:prstGeom prst="roundRect">
            <a:avLst>
              <a:gd name="adj" fmla="val 6316"/>
            </a:avLst>
          </a:prstGeom>
          <a:solidFill>
            <a:srgbClr val="F6F2EC"/>
          </a:solidFill>
          <a:ln w="12700">
            <a:solidFill>
              <a:srgbClr val="E7E2DA"/>
            </a:solidFill>
            <a:prstDash val="solid"/>
          </a:ln>
        </p:spPr>
      </p:sp>
      <p:sp>
        <p:nvSpPr>
          <p:cNvPr id="31" name="Text 24"/>
          <p:cNvSpPr/>
          <p:nvPr/>
        </p:nvSpPr>
        <p:spPr>
          <a:xfrm>
            <a:off x="5102352" y="3849624"/>
            <a:ext cx="822960" cy="685800"/>
          </a:xfrm>
          <a:prstGeom prst="rect">
            <a:avLst/>
          </a:prstGeom>
          <a:noFill/>
          <a:ln/>
        </p:spPr>
        <p:txBody>
          <a:bodyPr wrap="square" lIns="0" tIns="0" rIns="0" bIns="0" rtlCol="0" anchor="ctr"/>
          <a:lstStyle/>
          <a:p>
            <a:pPr indent="0" marL="0">
              <a:buNone/>
            </a:pPr>
            <a:r>
              <a:rPr lang="en-US" sz="3000" dirty="0">
                <a:solidFill>
                  <a:srgbClr val="F4A259"/>
                </a:solidFill>
                <a:latin typeface="Arial Black" pitchFamily="34" charset="0"/>
                <a:ea typeface="Arial Black" pitchFamily="34" charset="-122"/>
                <a:cs typeface="Arial Black" pitchFamily="34" charset="-120"/>
              </a:rPr>
              <a:t>06</a:t>
            </a:r>
            <a:endParaRPr lang="en-US" sz="3000" dirty="0"/>
          </a:p>
        </p:txBody>
      </p:sp>
      <p:sp>
        <p:nvSpPr>
          <p:cNvPr id="32" name="Shape 25"/>
          <p:cNvSpPr/>
          <p:nvPr/>
        </p:nvSpPr>
        <p:spPr>
          <a:xfrm>
            <a:off x="8229600" y="3941064"/>
            <a:ext cx="502920" cy="50292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33" name="Image 5" descr="preencoded.png">    </p:cNvPr>
          <p:cNvPicPr>
            <a:picLocks noChangeAspect="1"/>
          </p:cNvPicPr>
          <p:nvPr/>
        </p:nvPicPr>
        <p:blipFill>
          <a:blip r:embed="rId6"/>
          <a:stretch>
            <a:fillRect/>
          </a:stretch>
        </p:blipFill>
        <p:spPr>
          <a:xfrm>
            <a:off x="8350301" y="4061765"/>
            <a:ext cx="261518" cy="261518"/>
          </a:xfrm>
          <a:prstGeom prst="rect">
            <a:avLst/>
          </a:prstGeom>
        </p:spPr>
      </p:pic>
      <p:sp>
        <p:nvSpPr>
          <p:cNvPr id="34" name="Text 26"/>
          <p:cNvSpPr/>
          <p:nvPr/>
        </p:nvSpPr>
        <p:spPr>
          <a:xfrm>
            <a:off x="5989320" y="3758184"/>
            <a:ext cx="2148840" cy="868680"/>
          </a:xfrm>
          <a:prstGeom prst="rect">
            <a:avLst/>
          </a:prstGeom>
          <a:noFill/>
          <a:ln/>
        </p:spPr>
        <p:txBody>
          <a:bodyPr wrap="square" lIns="0" tIns="0" rIns="0" bIns="0" rtlCol="0" anchor="ctr"/>
          <a:lstStyle/>
          <a:p>
            <a:pPr indent="0" marL="0">
              <a:buNone/>
            </a:pPr>
            <a:r>
              <a:rPr lang="en-US" sz="1550" b="1" dirty="0">
                <a:solidFill>
                  <a:srgbClr val="1F1F23"/>
                </a:solidFill>
                <a:latin typeface="Trebuchet MS" pitchFamily="34" charset="0"/>
                <a:ea typeface="Trebuchet MS" pitchFamily="34" charset="-122"/>
                <a:cs typeface="Trebuchet MS" pitchFamily="34" charset="-120"/>
              </a:rPr>
              <a:t>Pruebas y resultados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01 · EL PROBLEMA</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Contexto y motivación</a:t>
            </a:r>
            <a:endParaRPr lang="en-US" sz="2600" dirty="0"/>
          </a:p>
        </p:txBody>
      </p:sp>
      <p:sp>
        <p:nvSpPr>
          <p:cNvPr id="5" name="Text 3"/>
          <p:cNvSpPr/>
          <p:nvPr/>
        </p:nvSpPr>
        <p:spPr>
          <a:xfrm>
            <a:off x="548640" y="1463040"/>
            <a:ext cx="4480560" cy="1463040"/>
          </a:xfrm>
          <a:prstGeom prst="rect">
            <a:avLst/>
          </a:prstGeom>
          <a:noFill/>
          <a:ln/>
        </p:spPr>
        <p:txBody>
          <a:bodyPr wrap="square" lIns="0" tIns="0" rIns="0" bIns="0" rtlCol="0" anchor="t"/>
          <a:lstStyle/>
          <a:p>
            <a:pPr indent="0" marL="0">
              <a:lnSpc>
                <a:spcPct val="105000"/>
              </a:lnSpc>
              <a:buNone/>
            </a:pPr>
            <a:r>
              <a:rPr lang="en-US" sz="1500" b="1" dirty="0">
                <a:solidFill>
                  <a:srgbClr val="1F1F23"/>
                </a:solidFill>
                <a:latin typeface="Calibri" pitchFamily="34" charset="0"/>
                <a:ea typeface="Calibri" pitchFamily="34" charset="-122"/>
                <a:cs typeface="Calibri" pitchFamily="34" charset="-120"/>
              </a:rPr>
              <a:t>Soy entrenador del campus de baloncesto de verano de Toledo. </a:t>
            </a:r>
            <a:endParaRPr lang="en-US" sz="1500" dirty="0"/>
          </a:p>
          <a:p>
            <a:pPr indent="0" marL="0">
              <a:lnSpc>
                <a:spcPct val="105000"/>
              </a:lnSpc>
              <a:buNone/>
            </a:pPr>
            <a:r>
              <a:rPr lang="en-US" sz="1500" dirty="0">
                <a:solidFill>
                  <a:srgbClr val="6E6E73"/>
                </a:solidFill>
                <a:latin typeface="Calibri" pitchFamily="34" charset="0"/>
                <a:ea typeface="Calibri" pitchFamily="34" charset="-122"/>
                <a:cs typeface="Calibri" pitchFamily="34" charset="-120"/>
              </a:rPr>
              <a:t>Cada año la gestión se hacía con hojas de cálculo, grupos de WhatsApp y papel: información dispersa, lenta de actualizar y difícil de compartir con familias y jugadores.</a:t>
            </a:r>
            <a:endParaRPr lang="en-US" sz="1500" dirty="0"/>
          </a:p>
        </p:txBody>
      </p:sp>
      <p:sp>
        <p:nvSpPr>
          <p:cNvPr id="6" name="Shape 4"/>
          <p:cNvSpPr/>
          <p:nvPr/>
        </p:nvSpPr>
        <p:spPr>
          <a:xfrm>
            <a:off x="5349240" y="146304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5480914" y="1594714"/>
            <a:ext cx="285293" cy="285293"/>
          </a:xfrm>
          <a:prstGeom prst="rect">
            <a:avLst/>
          </a:prstGeom>
        </p:spPr>
      </p:pic>
      <p:sp>
        <p:nvSpPr>
          <p:cNvPr id="8" name="Text 5"/>
          <p:cNvSpPr/>
          <p:nvPr/>
        </p:nvSpPr>
        <p:spPr>
          <a:xfrm>
            <a:off x="6035040" y="1444752"/>
            <a:ext cx="3017520" cy="292608"/>
          </a:xfrm>
          <a:prstGeom prst="rect">
            <a:avLst/>
          </a:prstGeom>
          <a:noFill/>
          <a:ln/>
        </p:spPr>
        <p:txBody>
          <a:bodyPr wrap="square" lIns="0" tIns="0" rIns="0" bIns="0" rtlCol="0" anchor="ctr"/>
          <a:lstStyle/>
          <a:p>
            <a:pPr indent="0" marL="0">
              <a:buNone/>
            </a:pPr>
            <a:r>
              <a:rPr lang="en-US" sz="1450" b="1" dirty="0">
                <a:solidFill>
                  <a:srgbClr val="1F1F23"/>
                </a:solidFill>
                <a:latin typeface="Trebuchet MS" pitchFamily="34" charset="0"/>
                <a:ea typeface="Trebuchet MS" pitchFamily="34" charset="-122"/>
                <a:cs typeface="Trebuchet MS" pitchFamily="34" charset="-120"/>
              </a:rPr>
              <a:t>Hojas de cálculo</a:t>
            </a:r>
            <a:endParaRPr lang="en-US" sz="1450" dirty="0"/>
          </a:p>
        </p:txBody>
      </p:sp>
      <p:sp>
        <p:nvSpPr>
          <p:cNvPr id="9" name="Text 6"/>
          <p:cNvSpPr/>
          <p:nvPr/>
        </p:nvSpPr>
        <p:spPr>
          <a:xfrm>
            <a:off x="6035040" y="1737360"/>
            <a:ext cx="3063240" cy="457200"/>
          </a:xfrm>
          <a:prstGeom prst="rect">
            <a:avLst/>
          </a:prstGeom>
          <a:noFill/>
          <a:ln/>
        </p:spPr>
        <p:txBody>
          <a:bodyPr wrap="square" lIns="0" tIns="0" rIns="0" bIns="0" rtlCol="0" anchor="ctr"/>
          <a:lstStyle/>
          <a:p>
            <a:pPr indent="0" marL="0">
              <a:buNone/>
            </a:pPr>
            <a:r>
              <a:rPr lang="en-US" sz="1200" dirty="0">
                <a:solidFill>
                  <a:srgbClr val="6E6E73"/>
                </a:solidFill>
                <a:latin typeface="Calibri" pitchFamily="34" charset="0"/>
                <a:ea typeface="Calibri" pitchFamily="34" charset="-122"/>
                <a:cs typeface="Calibri" pitchFamily="34" charset="-120"/>
              </a:rPr>
              <a:t>Clasificaciones manuales y propensas a errores</a:t>
            </a:r>
            <a:endParaRPr lang="en-US" sz="1200" dirty="0"/>
          </a:p>
        </p:txBody>
      </p:sp>
      <p:sp>
        <p:nvSpPr>
          <p:cNvPr id="10" name="Shape 7"/>
          <p:cNvSpPr/>
          <p:nvPr/>
        </p:nvSpPr>
        <p:spPr>
          <a:xfrm>
            <a:off x="5349240" y="237744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1" name="Image 1" descr="preencoded.png">    </p:cNvPr>
          <p:cNvPicPr>
            <a:picLocks noChangeAspect="1"/>
          </p:cNvPicPr>
          <p:nvPr/>
        </p:nvPicPr>
        <p:blipFill>
          <a:blip r:embed="rId2"/>
          <a:stretch>
            <a:fillRect/>
          </a:stretch>
        </p:blipFill>
        <p:spPr>
          <a:xfrm>
            <a:off x="5480914" y="2509114"/>
            <a:ext cx="285293" cy="285293"/>
          </a:xfrm>
          <a:prstGeom prst="rect">
            <a:avLst/>
          </a:prstGeom>
        </p:spPr>
      </p:pic>
      <p:sp>
        <p:nvSpPr>
          <p:cNvPr id="12" name="Text 8"/>
          <p:cNvSpPr/>
          <p:nvPr/>
        </p:nvSpPr>
        <p:spPr>
          <a:xfrm>
            <a:off x="6035040" y="2359152"/>
            <a:ext cx="3017520" cy="292608"/>
          </a:xfrm>
          <a:prstGeom prst="rect">
            <a:avLst/>
          </a:prstGeom>
          <a:noFill/>
          <a:ln/>
        </p:spPr>
        <p:txBody>
          <a:bodyPr wrap="square" lIns="0" tIns="0" rIns="0" bIns="0" rtlCol="0" anchor="ctr"/>
          <a:lstStyle/>
          <a:p>
            <a:pPr indent="0" marL="0">
              <a:buNone/>
            </a:pPr>
            <a:r>
              <a:rPr lang="en-US" sz="1450" b="1" dirty="0">
                <a:solidFill>
                  <a:srgbClr val="1F1F23"/>
                </a:solidFill>
                <a:latin typeface="Trebuchet MS" pitchFamily="34" charset="0"/>
                <a:ea typeface="Trebuchet MS" pitchFamily="34" charset="-122"/>
                <a:cs typeface="Trebuchet MS" pitchFamily="34" charset="-120"/>
              </a:rPr>
              <a:t>WhatsApp</a:t>
            </a:r>
            <a:endParaRPr lang="en-US" sz="1450" dirty="0"/>
          </a:p>
        </p:txBody>
      </p:sp>
      <p:sp>
        <p:nvSpPr>
          <p:cNvPr id="13" name="Text 9"/>
          <p:cNvSpPr/>
          <p:nvPr/>
        </p:nvSpPr>
        <p:spPr>
          <a:xfrm>
            <a:off x="6035040" y="2651760"/>
            <a:ext cx="3063240" cy="457200"/>
          </a:xfrm>
          <a:prstGeom prst="rect">
            <a:avLst/>
          </a:prstGeom>
          <a:noFill/>
          <a:ln/>
        </p:spPr>
        <p:txBody>
          <a:bodyPr wrap="square" lIns="0" tIns="0" rIns="0" bIns="0" rtlCol="0" anchor="ctr"/>
          <a:lstStyle/>
          <a:p>
            <a:pPr indent="0" marL="0">
              <a:buNone/>
            </a:pPr>
            <a:r>
              <a:rPr lang="en-US" sz="1200" dirty="0">
                <a:solidFill>
                  <a:srgbClr val="6E6E73"/>
                </a:solidFill>
                <a:latin typeface="Calibri" pitchFamily="34" charset="0"/>
                <a:ea typeface="Calibri" pitchFamily="34" charset="-122"/>
                <a:cs typeface="Calibri" pitchFamily="34" charset="-120"/>
              </a:rPr>
              <a:t>Avisos y resultados perdidos entre mensajes</a:t>
            </a:r>
            <a:endParaRPr lang="en-US" sz="1200" dirty="0"/>
          </a:p>
        </p:txBody>
      </p:sp>
      <p:sp>
        <p:nvSpPr>
          <p:cNvPr id="14" name="Shape 10"/>
          <p:cNvSpPr/>
          <p:nvPr/>
        </p:nvSpPr>
        <p:spPr>
          <a:xfrm>
            <a:off x="5349240" y="329184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5" name="Image 2" descr="preencoded.png">    </p:cNvPr>
          <p:cNvPicPr>
            <a:picLocks noChangeAspect="1"/>
          </p:cNvPicPr>
          <p:nvPr/>
        </p:nvPicPr>
        <p:blipFill>
          <a:blip r:embed="rId3"/>
          <a:stretch>
            <a:fillRect/>
          </a:stretch>
        </p:blipFill>
        <p:spPr>
          <a:xfrm>
            <a:off x="5480914" y="3423514"/>
            <a:ext cx="285293" cy="285293"/>
          </a:xfrm>
          <a:prstGeom prst="rect">
            <a:avLst/>
          </a:prstGeom>
        </p:spPr>
      </p:pic>
      <p:sp>
        <p:nvSpPr>
          <p:cNvPr id="16" name="Text 11"/>
          <p:cNvSpPr/>
          <p:nvPr/>
        </p:nvSpPr>
        <p:spPr>
          <a:xfrm>
            <a:off x="6035040" y="3273552"/>
            <a:ext cx="3017520" cy="292608"/>
          </a:xfrm>
          <a:prstGeom prst="rect">
            <a:avLst/>
          </a:prstGeom>
          <a:noFill/>
          <a:ln/>
        </p:spPr>
        <p:txBody>
          <a:bodyPr wrap="square" lIns="0" tIns="0" rIns="0" bIns="0" rtlCol="0" anchor="ctr"/>
          <a:lstStyle/>
          <a:p>
            <a:pPr indent="0" marL="0">
              <a:buNone/>
            </a:pPr>
            <a:r>
              <a:rPr lang="en-US" sz="1450" b="1" dirty="0">
                <a:solidFill>
                  <a:srgbClr val="1F1F23"/>
                </a:solidFill>
                <a:latin typeface="Trebuchet MS" pitchFamily="34" charset="0"/>
                <a:ea typeface="Trebuchet MS" pitchFamily="34" charset="-122"/>
                <a:cs typeface="Trebuchet MS" pitchFamily="34" charset="-120"/>
              </a:rPr>
              <a:t>Papel</a:t>
            </a:r>
            <a:endParaRPr lang="en-US" sz="1450" dirty="0"/>
          </a:p>
        </p:txBody>
      </p:sp>
      <p:sp>
        <p:nvSpPr>
          <p:cNvPr id="17" name="Text 12"/>
          <p:cNvSpPr/>
          <p:nvPr/>
        </p:nvSpPr>
        <p:spPr>
          <a:xfrm>
            <a:off x="6035040" y="3566160"/>
            <a:ext cx="3063240" cy="457200"/>
          </a:xfrm>
          <a:prstGeom prst="rect">
            <a:avLst/>
          </a:prstGeom>
          <a:noFill/>
          <a:ln/>
        </p:spPr>
        <p:txBody>
          <a:bodyPr wrap="square" lIns="0" tIns="0" rIns="0" bIns="0" rtlCol="0" anchor="ctr"/>
          <a:lstStyle/>
          <a:p>
            <a:pPr indent="0" marL="0">
              <a:buNone/>
            </a:pPr>
            <a:r>
              <a:rPr lang="en-US" sz="1200" dirty="0">
                <a:solidFill>
                  <a:srgbClr val="6E6E73"/>
                </a:solidFill>
                <a:latin typeface="Calibri" pitchFamily="34" charset="0"/>
                <a:ea typeface="Calibri" pitchFamily="34" charset="-122"/>
                <a:cs typeface="Calibri" pitchFamily="34" charset="-120"/>
              </a:rPr>
              <a:t>Puntuaciones y equipos apuntados a mano</a:t>
            </a:r>
            <a:endParaRPr lang="en-US" sz="1200" dirty="0"/>
          </a:p>
        </p:txBody>
      </p:sp>
      <p:sp>
        <p:nvSpPr>
          <p:cNvPr id="18" name="Text 13"/>
          <p:cNvSpPr/>
          <p:nvPr/>
        </p:nvSpPr>
        <p:spPr>
          <a:xfrm>
            <a:off x="548640" y="3246120"/>
            <a:ext cx="4480560" cy="1280160"/>
          </a:xfrm>
          <a:prstGeom prst="rect">
            <a:avLst/>
          </a:prstGeom>
          <a:noFill/>
          <a:ln/>
        </p:spPr>
        <p:txBody>
          <a:bodyPr wrap="square" lIns="0" tIns="0" rIns="0" bIns="0" rtlCol="0" anchor="t"/>
          <a:lstStyle/>
          <a:p>
            <a:pPr indent="0" marL="0">
              <a:buNone/>
            </a:pPr>
            <a:r>
              <a:rPr lang="en-US" sz="1400" i="1" dirty="0">
                <a:solidFill>
                  <a:srgbClr val="E2711D"/>
                </a:solidFill>
                <a:latin typeface="Calibri" pitchFamily="34" charset="0"/>
                <a:ea typeface="Calibri" pitchFamily="34" charset="-122"/>
                <a:cs typeface="Calibri" pitchFamily="34" charset="-120"/>
              </a:rPr>
              <a:t>«Una sola herramienta, accesible desde el móvil, la tablet o el navegador, sin instalar nada distinto en cada dispositivo.»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02 · METAS</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Objetivos del proyecto</a:t>
            </a:r>
            <a:endParaRPr lang="en-US" sz="2600" dirty="0"/>
          </a:p>
        </p:txBody>
      </p:sp>
      <p:sp>
        <p:nvSpPr>
          <p:cNvPr id="5" name="Shape 3"/>
          <p:cNvSpPr/>
          <p:nvPr/>
        </p:nvSpPr>
        <p:spPr>
          <a:xfrm>
            <a:off x="548640" y="1417320"/>
            <a:ext cx="8046720" cy="777240"/>
          </a:xfrm>
          <a:prstGeom prst="roundRect">
            <a:avLst>
              <a:gd name="adj" fmla="val 7059"/>
            </a:avLst>
          </a:prstGeom>
          <a:solidFill>
            <a:srgbClr val="17171A"/>
          </a:solidFill>
          <a:ln/>
        </p:spPr>
      </p:sp>
      <p:sp>
        <p:nvSpPr>
          <p:cNvPr id="6" name="Text 4"/>
          <p:cNvSpPr/>
          <p:nvPr/>
        </p:nvSpPr>
        <p:spPr>
          <a:xfrm>
            <a:off x="822960" y="1417320"/>
            <a:ext cx="7498080" cy="777240"/>
          </a:xfrm>
          <a:prstGeom prst="rect">
            <a:avLst/>
          </a:prstGeom>
          <a:noFill/>
          <a:ln/>
        </p:spPr>
        <p:txBody>
          <a:bodyPr wrap="square" lIns="0" tIns="0" rIns="0" bIns="0" rtlCol="0" anchor="ctr"/>
          <a:lstStyle/>
          <a:p>
            <a:pPr indent="0" marL="0">
              <a:buNone/>
            </a:pPr>
            <a:r>
              <a:rPr lang="en-US" sz="1400" b="1" dirty="0">
                <a:solidFill>
                  <a:srgbClr val="F4A259"/>
                </a:solidFill>
                <a:latin typeface="Calibri" pitchFamily="34" charset="0"/>
                <a:ea typeface="Calibri" pitchFamily="34" charset="-122"/>
                <a:cs typeface="Calibri" pitchFamily="34" charset="-120"/>
              </a:rPr>
              <a:t>Objetivo general   </a:t>
            </a:r>
            <a:pPr indent="0" marL="0">
              <a:buNone/>
            </a:pPr>
            <a:r>
              <a:rPr lang="en-US" sz="1400" dirty="0">
                <a:solidFill>
                  <a:srgbClr val="FFFFFF"/>
                </a:solidFill>
                <a:latin typeface="Calibri" pitchFamily="34" charset="0"/>
                <a:ea typeface="Calibri" pitchFamily="34" charset="-122"/>
                <a:cs typeface="Calibri" pitchFamily="34" charset="-120"/>
              </a:rPr>
              <a:t>Digitalizar la gestión integral del campus en una única aplicación multiplataforma (Android, iOS y web/PWA).</a:t>
            </a:r>
            <a:endParaRPr lang="en-US" sz="1400" dirty="0"/>
          </a:p>
        </p:txBody>
      </p:sp>
      <p:sp>
        <p:nvSpPr>
          <p:cNvPr id="7" name="Shape 5"/>
          <p:cNvSpPr/>
          <p:nvPr/>
        </p:nvSpPr>
        <p:spPr>
          <a:xfrm>
            <a:off x="548640" y="2468880"/>
            <a:ext cx="3931920" cy="1051560"/>
          </a:xfrm>
          <a:prstGeom prst="roundRect">
            <a:avLst>
              <a:gd name="adj" fmla="val 5217"/>
            </a:avLst>
          </a:prstGeom>
          <a:solidFill>
            <a:srgbClr val="F6F2EC"/>
          </a:solidFill>
          <a:ln w="12700">
            <a:solidFill>
              <a:srgbClr val="E7E2DA"/>
            </a:solidFill>
            <a:prstDash val="solid"/>
          </a:ln>
        </p:spPr>
      </p:sp>
      <p:sp>
        <p:nvSpPr>
          <p:cNvPr id="8" name="Shape 6"/>
          <p:cNvSpPr/>
          <p:nvPr/>
        </p:nvSpPr>
        <p:spPr>
          <a:xfrm>
            <a:off x="749808" y="272034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9" name="Image 0" descr="preencoded.png">    </p:cNvPr>
          <p:cNvPicPr>
            <a:picLocks noChangeAspect="1"/>
          </p:cNvPicPr>
          <p:nvPr/>
        </p:nvPicPr>
        <p:blipFill>
          <a:blip r:embed="rId1"/>
          <a:stretch>
            <a:fillRect/>
          </a:stretch>
        </p:blipFill>
        <p:spPr>
          <a:xfrm>
            <a:off x="881482" y="2852014"/>
            <a:ext cx="285293" cy="285293"/>
          </a:xfrm>
          <a:prstGeom prst="rect">
            <a:avLst/>
          </a:prstGeom>
        </p:spPr>
      </p:pic>
      <p:sp>
        <p:nvSpPr>
          <p:cNvPr id="10" name="Text 7"/>
          <p:cNvSpPr/>
          <p:nvPr/>
        </p:nvSpPr>
        <p:spPr>
          <a:xfrm>
            <a:off x="1508760" y="2633472"/>
            <a:ext cx="2788920" cy="320040"/>
          </a:xfrm>
          <a:prstGeom prst="rect">
            <a:avLst/>
          </a:prstGeom>
          <a:noFill/>
          <a:ln/>
        </p:spPr>
        <p:txBody>
          <a:bodyPr wrap="square" lIns="0" tIns="0" rIns="0" bIns="0" rtlCol="0" anchor="ctr"/>
          <a:lstStyle/>
          <a:p>
            <a:pPr indent="0" marL="0">
              <a:buNone/>
            </a:pPr>
            <a:r>
              <a:rPr lang="en-US" sz="1350" b="1" dirty="0">
                <a:solidFill>
                  <a:srgbClr val="1F1F23"/>
                </a:solidFill>
                <a:latin typeface="Trebuchet MS" pitchFamily="34" charset="0"/>
                <a:ea typeface="Trebuchet MS" pitchFamily="34" charset="-122"/>
                <a:cs typeface="Trebuchet MS" pitchFamily="34" charset="-120"/>
              </a:rPr>
              <a:t>Gestionar usuarios y equipos</a:t>
            </a:r>
            <a:endParaRPr lang="en-US" sz="1350" dirty="0"/>
          </a:p>
        </p:txBody>
      </p:sp>
      <p:sp>
        <p:nvSpPr>
          <p:cNvPr id="11" name="Text 8"/>
          <p:cNvSpPr/>
          <p:nvPr/>
        </p:nvSpPr>
        <p:spPr>
          <a:xfrm>
            <a:off x="1508760" y="2971800"/>
            <a:ext cx="2788920" cy="41148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Roles, perfiles y grupos del campus</a:t>
            </a:r>
            <a:endParaRPr lang="en-US" sz="1150" dirty="0"/>
          </a:p>
        </p:txBody>
      </p:sp>
      <p:sp>
        <p:nvSpPr>
          <p:cNvPr id="12" name="Shape 9"/>
          <p:cNvSpPr/>
          <p:nvPr/>
        </p:nvSpPr>
        <p:spPr>
          <a:xfrm>
            <a:off x="4663440" y="2468880"/>
            <a:ext cx="3931920" cy="1051560"/>
          </a:xfrm>
          <a:prstGeom prst="roundRect">
            <a:avLst>
              <a:gd name="adj" fmla="val 5217"/>
            </a:avLst>
          </a:prstGeom>
          <a:solidFill>
            <a:srgbClr val="F6F2EC"/>
          </a:solidFill>
          <a:ln w="12700">
            <a:solidFill>
              <a:srgbClr val="E7E2DA"/>
            </a:solidFill>
            <a:prstDash val="solid"/>
          </a:ln>
        </p:spPr>
      </p:sp>
      <p:sp>
        <p:nvSpPr>
          <p:cNvPr id="13" name="Shape 10"/>
          <p:cNvSpPr/>
          <p:nvPr/>
        </p:nvSpPr>
        <p:spPr>
          <a:xfrm>
            <a:off x="4864608" y="272034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4" name="Image 1" descr="preencoded.png">    </p:cNvPr>
          <p:cNvPicPr>
            <a:picLocks noChangeAspect="1"/>
          </p:cNvPicPr>
          <p:nvPr/>
        </p:nvPicPr>
        <p:blipFill>
          <a:blip r:embed="rId2"/>
          <a:stretch>
            <a:fillRect/>
          </a:stretch>
        </p:blipFill>
        <p:spPr>
          <a:xfrm>
            <a:off x="4996282" y="2852014"/>
            <a:ext cx="285293" cy="285293"/>
          </a:xfrm>
          <a:prstGeom prst="rect">
            <a:avLst/>
          </a:prstGeom>
        </p:spPr>
      </p:pic>
      <p:sp>
        <p:nvSpPr>
          <p:cNvPr id="15" name="Text 11"/>
          <p:cNvSpPr/>
          <p:nvPr/>
        </p:nvSpPr>
        <p:spPr>
          <a:xfrm>
            <a:off x="5623560" y="2633472"/>
            <a:ext cx="2788920" cy="320040"/>
          </a:xfrm>
          <a:prstGeom prst="rect">
            <a:avLst/>
          </a:prstGeom>
          <a:noFill/>
          <a:ln/>
        </p:spPr>
        <p:txBody>
          <a:bodyPr wrap="square" lIns="0" tIns="0" rIns="0" bIns="0" rtlCol="0" anchor="ctr"/>
          <a:lstStyle/>
          <a:p>
            <a:pPr indent="0" marL="0">
              <a:buNone/>
            </a:pPr>
            <a:r>
              <a:rPr lang="en-US" sz="1350" b="1" dirty="0">
                <a:solidFill>
                  <a:srgbClr val="1F1F23"/>
                </a:solidFill>
                <a:latin typeface="Trebuchet MS" pitchFamily="34" charset="0"/>
                <a:ea typeface="Trebuchet MS" pitchFamily="34" charset="-122"/>
                <a:cs typeface="Trebuchet MS" pitchFamily="34" charset="-120"/>
              </a:rPr>
              <a:t>Competiciones y rankings</a:t>
            </a:r>
            <a:endParaRPr lang="en-US" sz="1350" dirty="0"/>
          </a:p>
        </p:txBody>
      </p:sp>
      <p:sp>
        <p:nvSpPr>
          <p:cNvPr id="16" name="Text 12"/>
          <p:cNvSpPr/>
          <p:nvPr/>
        </p:nvSpPr>
        <p:spPr>
          <a:xfrm>
            <a:off x="5623560" y="2971800"/>
            <a:ext cx="2788920" cy="41148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Estaciones, siesta, veladas y partidos</a:t>
            </a:r>
            <a:endParaRPr lang="en-US" sz="1150" dirty="0"/>
          </a:p>
        </p:txBody>
      </p:sp>
      <p:sp>
        <p:nvSpPr>
          <p:cNvPr id="17" name="Shape 13"/>
          <p:cNvSpPr/>
          <p:nvPr/>
        </p:nvSpPr>
        <p:spPr>
          <a:xfrm>
            <a:off x="548640" y="3749040"/>
            <a:ext cx="3931920" cy="1051560"/>
          </a:xfrm>
          <a:prstGeom prst="roundRect">
            <a:avLst>
              <a:gd name="adj" fmla="val 5217"/>
            </a:avLst>
          </a:prstGeom>
          <a:solidFill>
            <a:srgbClr val="F6F2EC"/>
          </a:solidFill>
          <a:ln w="12700">
            <a:solidFill>
              <a:srgbClr val="E7E2DA"/>
            </a:solidFill>
            <a:prstDash val="solid"/>
          </a:ln>
        </p:spPr>
      </p:sp>
      <p:sp>
        <p:nvSpPr>
          <p:cNvPr id="18" name="Shape 14"/>
          <p:cNvSpPr/>
          <p:nvPr/>
        </p:nvSpPr>
        <p:spPr>
          <a:xfrm>
            <a:off x="749808" y="400050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9" name="Image 2" descr="preencoded.png">    </p:cNvPr>
          <p:cNvPicPr>
            <a:picLocks noChangeAspect="1"/>
          </p:cNvPicPr>
          <p:nvPr/>
        </p:nvPicPr>
        <p:blipFill>
          <a:blip r:embed="rId3"/>
          <a:stretch>
            <a:fillRect/>
          </a:stretch>
        </p:blipFill>
        <p:spPr>
          <a:xfrm>
            <a:off x="881482" y="4132174"/>
            <a:ext cx="285293" cy="285293"/>
          </a:xfrm>
          <a:prstGeom prst="rect">
            <a:avLst/>
          </a:prstGeom>
        </p:spPr>
      </p:pic>
      <p:sp>
        <p:nvSpPr>
          <p:cNvPr id="20" name="Text 15"/>
          <p:cNvSpPr/>
          <p:nvPr/>
        </p:nvSpPr>
        <p:spPr>
          <a:xfrm>
            <a:off x="1508760" y="3913632"/>
            <a:ext cx="2788920" cy="320040"/>
          </a:xfrm>
          <a:prstGeom prst="rect">
            <a:avLst/>
          </a:prstGeom>
          <a:noFill/>
          <a:ln/>
        </p:spPr>
        <p:txBody>
          <a:bodyPr wrap="square" lIns="0" tIns="0" rIns="0" bIns="0" rtlCol="0" anchor="ctr"/>
          <a:lstStyle/>
          <a:p>
            <a:pPr indent="0" marL="0">
              <a:buNone/>
            </a:pPr>
            <a:r>
              <a:rPr lang="en-US" sz="1350" b="1" dirty="0">
                <a:solidFill>
                  <a:srgbClr val="1F1F23"/>
                </a:solidFill>
                <a:latin typeface="Trebuchet MS" pitchFamily="34" charset="0"/>
                <a:ea typeface="Trebuchet MS" pitchFamily="34" charset="-122"/>
                <a:cs typeface="Trebuchet MS" pitchFamily="34" charset="-120"/>
              </a:rPr>
              <a:t>Resultados en tiempo real</a:t>
            </a:r>
            <a:endParaRPr lang="en-US" sz="1350" dirty="0"/>
          </a:p>
        </p:txBody>
      </p:sp>
      <p:sp>
        <p:nvSpPr>
          <p:cNvPr id="21" name="Text 16"/>
          <p:cNvSpPr/>
          <p:nvPr/>
        </p:nvSpPr>
        <p:spPr>
          <a:xfrm>
            <a:off x="1508760" y="4251960"/>
            <a:ext cx="2788920" cy="41148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Marcador en directo y estadísticas</a:t>
            </a:r>
            <a:endParaRPr lang="en-US" sz="1150" dirty="0"/>
          </a:p>
        </p:txBody>
      </p:sp>
      <p:sp>
        <p:nvSpPr>
          <p:cNvPr id="22" name="Shape 17"/>
          <p:cNvSpPr/>
          <p:nvPr/>
        </p:nvSpPr>
        <p:spPr>
          <a:xfrm>
            <a:off x="4663440" y="3749040"/>
            <a:ext cx="3931920" cy="1051560"/>
          </a:xfrm>
          <a:prstGeom prst="roundRect">
            <a:avLst>
              <a:gd name="adj" fmla="val 5217"/>
            </a:avLst>
          </a:prstGeom>
          <a:solidFill>
            <a:srgbClr val="F6F2EC"/>
          </a:solidFill>
          <a:ln w="12700">
            <a:solidFill>
              <a:srgbClr val="E7E2DA"/>
            </a:solidFill>
            <a:prstDash val="solid"/>
          </a:ln>
        </p:spPr>
      </p:sp>
      <p:sp>
        <p:nvSpPr>
          <p:cNvPr id="23" name="Shape 18"/>
          <p:cNvSpPr/>
          <p:nvPr/>
        </p:nvSpPr>
        <p:spPr>
          <a:xfrm>
            <a:off x="4864608" y="400050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24" name="Image 3" descr="preencoded.png">    </p:cNvPr>
          <p:cNvPicPr>
            <a:picLocks noChangeAspect="1"/>
          </p:cNvPicPr>
          <p:nvPr/>
        </p:nvPicPr>
        <p:blipFill>
          <a:blip r:embed="rId4"/>
          <a:stretch>
            <a:fillRect/>
          </a:stretch>
        </p:blipFill>
        <p:spPr>
          <a:xfrm>
            <a:off x="4996282" y="4132174"/>
            <a:ext cx="285293" cy="285293"/>
          </a:xfrm>
          <a:prstGeom prst="rect">
            <a:avLst/>
          </a:prstGeom>
        </p:spPr>
      </p:pic>
      <p:sp>
        <p:nvSpPr>
          <p:cNvPr id="25" name="Text 19"/>
          <p:cNvSpPr/>
          <p:nvPr/>
        </p:nvSpPr>
        <p:spPr>
          <a:xfrm>
            <a:off x="5623560" y="3913632"/>
            <a:ext cx="2788920" cy="320040"/>
          </a:xfrm>
          <a:prstGeom prst="rect">
            <a:avLst/>
          </a:prstGeom>
          <a:noFill/>
          <a:ln/>
        </p:spPr>
        <p:txBody>
          <a:bodyPr wrap="square" lIns="0" tIns="0" rIns="0" bIns="0" rtlCol="0" anchor="ctr"/>
          <a:lstStyle/>
          <a:p>
            <a:pPr indent="0" marL="0">
              <a:buNone/>
            </a:pPr>
            <a:r>
              <a:rPr lang="en-US" sz="1350" b="1" dirty="0">
                <a:solidFill>
                  <a:srgbClr val="1F1F23"/>
                </a:solidFill>
                <a:latin typeface="Trebuchet MS" pitchFamily="34" charset="0"/>
                <a:ea typeface="Trebuchet MS" pitchFamily="34" charset="-122"/>
                <a:cs typeface="Trebuchet MS" pitchFamily="34" charset="-120"/>
              </a:rPr>
              <a:t>Seguridad por roles</a:t>
            </a:r>
            <a:endParaRPr lang="en-US" sz="1350" dirty="0"/>
          </a:p>
        </p:txBody>
      </p:sp>
      <p:sp>
        <p:nvSpPr>
          <p:cNvPr id="26" name="Text 20"/>
          <p:cNvSpPr/>
          <p:nvPr/>
        </p:nvSpPr>
        <p:spPr>
          <a:xfrm>
            <a:off x="5623560" y="4251960"/>
            <a:ext cx="2788920" cy="41148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Acceso controlado con políticas RLS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02 · CÓMO LO HICE</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Metodología y planificación</a:t>
            </a:r>
            <a:endParaRPr lang="en-US" sz="2600" dirty="0"/>
          </a:p>
        </p:txBody>
      </p:sp>
      <p:sp>
        <p:nvSpPr>
          <p:cNvPr id="5" name="Shape 3"/>
          <p:cNvSpPr/>
          <p:nvPr/>
        </p:nvSpPr>
        <p:spPr>
          <a:xfrm>
            <a:off x="548640" y="1417320"/>
            <a:ext cx="502920" cy="50292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6" name="Image 0" descr="preencoded.png">    </p:cNvPr>
          <p:cNvPicPr>
            <a:picLocks noChangeAspect="1"/>
          </p:cNvPicPr>
          <p:nvPr/>
        </p:nvPicPr>
        <p:blipFill>
          <a:blip r:embed="rId1"/>
          <a:stretch>
            <a:fillRect/>
          </a:stretch>
        </p:blipFill>
        <p:spPr>
          <a:xfrm>
            <a:off x="669341" y="1538021"/>
            <a:ext cx="261518" cy="261518"/>
          </a:xfrm>
          <a:prstGeom prst="rect">
            <a:avLst/>
          </a:prstGeom>
        </p:spPr>
      </p:pic>
      <p:sp>
        <p:nvSpPr>
          <p:cNvPr id="7" name="Text 4"/>
          <p:cNvSpPr/>
          <p:nvPr/>
        </p:nvSpPr>
        <p:spPr>
          <a:xfrm>
            <a:off x="1170432" y="1371600"/>
            <a:ext cx="2057400" cy="320040"/>
          </a:xfrm>
          <a:prstGeom prst="rect">
            <a:avLst/>
          </a:prstGeom>
          <a:noFill/>
          <a:ln/>
        </p:spPr>
        <p:txBody>
          <a:bodyPr wrap="square" lIns="0" tIns="0" rIns="0" bIns="0" rtlCol="0" anchor="ctr"/>
          <a:lstStyle/>
          <a:p>
            <a:pPr indent="0" marL="0">
              <a:buNone/>
            </a:pPr>
            <a:r>
              <a:rPr lang="en-US" sz="1300" b="1" dirty="0">
                <a:solidFill>
                  <a:srgbClr val="1F1F23"/>
                </a:solidFill>
                <a:latin typeface="Trebuchet MS" pitchFamily="34" charset="0"/>
                <a:ea typeface="Trebuchet MS" pitchFamily="34" charset="-122"/>
                <a:cs typeface="Trebuchet MS" pitchFamily="34" charset="-120"/>
              </a:rPr>
              <a:t>Iterativa e incremental</a:t>
            </a:r>
            <a:endParaRPr lang="en-US" sz="1300" dirty="0"/>
          </a:p>
        </p:txBody>
      </p:sp>
      <p:sp>
        <p:nvSpPr>
          <p:cNvPr id="8" name="Text 5"/>
          <p:cNvSpPr/>
          <p:nvPr/>
        </p:nvSpPr>
        <p:spPr>
          <a:xfrm>
            <a:off x="1170432" y="1664208"/>
            <a:ext cx="2103120" cy="548640"/>
          </a:xfrm>
          <a:prstGeom prst="rect">
            <a:avLst/>
          </a:prstGeom>
          <a:noFill/>
          <a:ln/>
        </p:spPr>
        <p:txBody>
          <a:bodyPr wrap="square" lIns="0" tIns="0" rIns="0" bIns="0" rtlCol="0" anchor="t"/>
          <a:lstStyle/>
          <a:p>
            <a:pPr indent="0" marL="0">
              <a:buNone/>
            </a:pPr>
            <a:r>
              <a:rPr lang="en-US" sz="1080" dirty="0">
                <a:solidFill>
                  <a:srgbClr val="6E6E73"/>
                </a:solidFill>
                <a:latin typeface="Calibri" pitchFamily="34" charset="0"/>
                <a:ea typeface="Calibri" pitchFamily="34" charset="-122"/>
                <a:cs typeface="Calibri" pitchFamily="34" charset="-120"/>
              </a:rPr>
              <a:t>Módulo a módulo, probando cada parte al terminarla.</a:t>
            </a:r>
            <a:endParaRPr lang="en-US" sz="1080" dirty="0"/>
          </a:p>
        </p:txBody>
      </p:sp>
      <p:sp>
        <p:nvSpPr>
          <p:cNvPr id="9" name="Shape 6"/>
          <p:cNvSpPr/>
          <p:nvPr/>
        </p:nvSpPr>
        <p:spPr>
          <a:xfrm>
            <a:off x="3291840" y="1417320"/>
            <a:ext cx="502920" cy="50292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0" name="Image 1" descr="preencoded.png">    </p:cNvPr>
          <p:cNvPicPr>
            <a:picLocks noChangeAspect="1"/>
          </p:cNvPicPr>
          <p:nvPr/>
        </p:nvPicPr>
        <p:blipFill>
          <a:blip r:embed="rId2"/>
          <a:stretch>
            <a:fillRect/>
          </a:stretch>
        </p:blipFill>
        <p:spPr>
          <a:xfrm>
            <a:off x="3412541" y="1538021"/>
            <a:ext cx="261518" cy="261518"/>
          </a:xfrm>
          <a:prstGeom prst="rect">
            <a:avLst/>
          </a:prstGeom>
        </p:spPr>
      </p:pic>
      <p:sp>
        <p:nvSpPr>
          <p:cNvPr id="11" name="Text 7"/>
          <p:cNvSpPr/>
          <p:nvPr/>
        </p:nvSpPr>
        <p:spPr>
          <a:xfrm>
            <a:off x="3913632" y="1371600"/>
            <a:ext cx="2057400" cy="320040"/>
          </a:xfrm>
          <a:prstGeom prst="rect">
            <a:avLst/>
          </a:prstGeom>
          <a:noFill/>
          <a:ln/>
        </p:spPr>
        <p:txBody>
          <a:bodyPr wrap="square" lIns="0" tIns="0" rIns="0" bIns="0" rtlCol="0" anchor="ctr"/>
          <a:lstStyle/>
          <a:p>
            <a:pPr indent="0" marL="0">
              <a:buNone/>
            </a:pPr>
            <a:r>
              <a:rPr lang="en-US" sz="1300" b="1" dirty="0">
                <a:solidFill>
                  <a:srgbClr val="1F1F23"/>
                </a:solidFill>
                <a:latin typeface="Trebuchet MS" pitchFamily="34" charset="0"/>
                <a:ea typeface="Trebuchet MS" pitchFamily="34" charset="-122"/>
                <a:cs typeface="Trebuchet MS" pitchFamily="34" charset="-120"/>
              </a:rPr>
              <a:t>Git + GitHub</a:t>
            </a:r>
            <a:endParaRPr lang="en-US" sz="1300" dirty="0"/>
          </a:p>
        </p:txBody>
      </p:sp>
      <p:sp>
        <p:nvSpPr>
          <p:cNvPr id="12" name="Text 8"/>
          <p:cNvSpPr/>
          <p:nvPr/>
        </p:nvSpPr>
        <p:spPr>
          <a:xfrm>
            <a:off x="3913632" y="1664208"/>
            <a:ext cx="2103120" cy="548640"/>
          </a:xfrm>
          <a:prstGeom prst="rect">
            <a:avLst/>
          </a:prstGeom>
          <a:noFill/>
          <a:ln/>
        </p:spPr>
        <p:txBody>
          <a:bodyPr wrap="square" lIns="0" tIns="0" rIns="0" bIns="0" rtlCol="0" anchor="t"/>
          <a:lstStyle/>
          <a:p>
            <a:pPr indent="0" marL="0">
              <a:buNone/>
            </a:pPr>
            <a:r>
              <a:rPr lang="en-US" sz="1080" dirty="0">
                <a:solidFill>
                  <a:srgbClr val="6E6E73"/>
                </a:solidFill>
                <a:latin typeface="Calibri" pitchFamily="34" charset="0"/>
                <a:ea typeface="Calibri" pitchFamily="34" charset="-122"/>
                <a:cs typeface="Calibri" pitchFamily="34" charset="-120"/>
              </a:rPr>
              <a:t>Control de versiones y repositorio público.</a:t>
            </a:r>
            <a:endParaRPr lang="en-US" sz="1080" dirty="0"/>
          </a:p>
        </p:txBody>
      </p:sp>
      <p:sp>
        <p:nvSpPr>
          <p:cNvPr id="13" name="Shape 9"/>
          <p:cNvSpPr/>
          <p:nvPr/>
        </p:nvSpPr>
        <p:spPr>
          <a:xfrm>
            <a:off x="6035040" y="1417320"/>
            <a:ext cx="502920" cy="50292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4" name="Image 2" descr="preencoded.png">    </p:cNvPr>
          <p:cNvPicPr>
            <a:picLocks noChangeAspect="1"/>
          </p:cNvPicPr>
          <p:nvPr/>
        </p:nvPicPr>
        <p:blipFill>
          <a:blip r:embed="rId3"/>
          <a:stretch>
            <a:fillRect/>
          </a:stretch>
        </p:blipFill>
        <p:spPr>
          <a:xfrm>
            <a:off x="6155741" y="1538021"/>
            <a:ext cx="261518" cy="261518"/>
          </a:xfrm>
          <a:prstGeom prst="rect">
            <a:avLst/>
          </a:prstGeom>
        </p:spPr>
      </p:pic>
      <p:sp>
        <p:nvSpPr>
          <p:cNvPr id="15" name="Text 10"/>
          <p:cNvSpPr/>
          <p:nvPr/>
        </p:nvSpPr>
        <p:spPr>
          <a:xfrm>
            <a:off x="6656832" y="1371600"/>
            <a:ext cx="2057400" cy="320040"/>
          </a:xfrm>
          <a:prstGeom prst="rect">
            <a:avLst/>
          </a:prstGeom>
          <a:noFill/>
          <a:ln/>
        </p:spPr>
        <p:txBody>
          <a:bodyPr wrap="square" lIns="0" tIns="0" rIns="0" bIns="0" rtlCol="0" anchor="ctr"/>
          <a:lstStyle/>
          <a:p>
            <a:pPr indent="0" marL="0">
              <a:buNone/>
            </a:pPr>
            <a:r>
              <a:rPr lang="en-US" sz="1300" b="1" dirty="0">
                <a:solidFill>
                  <a:srgbClr val="1F1F23"/>
                </a:solidFill>
                <a:latin typeface="Trebuchet MS" pitchFamily="34" charset="0"/>
                <a:ea typeface="Trebuchet MS" pitchFamily="34" charset="-122"/>
                <a:cs typeface="Trebuchet MS" pitchFamily="34" charset="-120"/>
              </a:rPr>
              <a:t>Dic 2025 – Jun 2026</a:t>
            </a:r>
            <a:endParaRPr lang="en-US" sz="1300" dirty="0"/>
          </a:p>
        </p:txBody>
      </p:sp>
      <p:sp>
        <p:nvSpPr>
          <p:cNvPr id="16" name="Text 11"/>
          <p:cNvSpPr/>
          <p:nvPr/>
        </p:nvSpPr>
        <p:spPr>
          <a:xfrm>
            <a:off x="6656832" y="1664208"/>
            <a:ext cx="2103120" cy="548640"/>
          </a:xfrm>
          <a:prstGeom prst="rect">
            <a:avLst/>
          </a:prstGeom>
          <a:noFill/>
          <a:ln/>
        </p:spPr>
        <p:txBody>
          <a:bodyPr wrap="square" lIns="0" tIns="0" rIns="0" bIns="0" rtlCol="0" anchor="t"/>
          <a:lstStyle/>
          <a:p>
            <a:pPr indent="0" marL="0">
              <a:buNone/>
            </a:pPr>
            <a:r>
              <a:rPr lang="en-US" sz="1080" dirty="0">
                <a:solidFill>
                  <a:srgbClr val="6E6E73"/>
                </a:solidFill>
                <a:latin typeface="Calibri" pitchFamily="34" charset="0"/>
                <a:ea typeface="Calibri" pitchFamily="34" charset="-122"/>
                <a:cs typeface="Calibri" pitchFamily="34" charset="-120"/>
              </a:rPr>
              <a:t>Análisis, diseño, desarrollo, pruebas y memoria.</a:t>
            </a:r>
            <a:endParaRPr lang="en-US" sz="1080" dirty="0"/>
          </a:p>
        </p:txBody>
      </p:sp>
      <p:sp>
        <p:nvSpPr>
          <p:cNvPr id="17" name="Text 12"/>
          <p:cNvSpPr/>
          <p:nvPr/>
        </p:nvSpPr>
        <p:spPr>
          <a:xfrm>
            <a:off x="548640" y="2286000"/>
            <a:ext cx="8138160" cy="274320"/>
          </a:xfrm>
          <a:prstGeom prst="rect">
            <a:avLst/>
          </a:prstGeom>
          <a:noFill/>
          <a:ln/>
        </p:spPr>
        <p:txBody>
          <a:bodyPr wrap="square" lIns="0" tIns="0" rIns="0" bIns="0" rtlCol="0" anchor="ctr"/>
          <a:lstStyle/>
          <a:p>
            <a:pPr indent="0" marL="0">
              <a:buNone/>
            </a:pPr>
            <a:r>
              <a:rPr lang="en-US" sz="1200" b="1" spc="100" kern="0" dirty="0">
                <a:solidFill>
                  <a:srgbClr val="E2711D"/>
                </a:solidFill>
                <a:latin typeface="Trebuchet MS" pitchFamily="34" charset="0"/>
                <a:ea typeface="Trebuchet MS" pitchFamily="34" charset="-122"/>
                <a:cs typeface="Trebuchet MS" pitchFamily="34" charset="-120"/>
              </a:rPr>
              <a:t>PLANIFICACIÓN TEMPORAL · DIAGRAMA DE GANTT</a:t>
            </a:r>
            <a:endParaRPr lang="en-US" sz="1200" dirty="0"/>
          </a:p>
        </p:txBody>
      </p:sp>
      <p:sp>
        <p:nvSpPr>
          <p:cNvPr id="18" name="Shape 13"/>
          <p:cNvSpPr/>
          <p:nvPr/>
        </p:nvSpPr>
        <p:spPr>
          <a:xfrm>
            <a:off x="1124712" y="2542032"/>
            <a:ext cx="6894576" cy="2510793"/>
          </a:xfrm>
          <a:prstGeom prst="roundRect">
            <a:avLst>
              <a:gd name="adj" fmla="val 2914"/>
            </a:avLst>
          </a:prstGeom>
          <a:solidFill>
            <a:srgbClr val="FFFFFF"/>
          </a:solidFill>
          <a:ln w="12700">
            <a:solidFill>
              <a:srgbClr val="E7E2DA"/>
            </a:solidFill>
            <a:prstDash val="solid"/>
          </a:ln>
          <a:effectLst>
            <a:outerShdw sx="100000" sy="100000" kx="0" ky="0" algn="bl" rotWithShape="0" blurRad="88900" dist="38100" dir="8100000">
              <a:srgbClr val="000000">
                <a:alpha val="18000"/>
              </a:srgbClr>
            </a:outerShdw>
          </a:effectLst>
        </p:spPr>
      </p:sp>
      <p:pic>
        <p:nvPicPr>
          <p:cNvPr id="19" name="Image 3" descr="media/gantt.png">    </p:cNvPr>
          <p:cNvPicPr>
            <a:picLocks noChangeAspect="1"/>
          </p:cNvPicPr>
          <p:nvPr/>
        </p:nvPicPr>
        <p:blipFill>
          <a:blip r:embed="rId4"/>
          <a:stretch>
            <a:fillRect/>
          </a:stretch>
        </p:blipFill>
        <p:spPr>
          <a:xfrm>
            <a:off x="1188720" y="2606040"/>
            <a:ext cx="6766560" cy="23827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03 · QUÉ HABÍA ANTES</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Estado del arte</a:t>
            </a:r>
            <a:endParaRPr lang="en-US" sz="2600" dirty="0"/>
          </a:p>
        </p:txBody>
      </p:sp>
      <p:sp>
        <p:nvSpPr>
          <p:cNvPr id="5" name="Text 3"/>
          <p:cNvSpPr/>
          <p:nvPr/>
        </p:nvSpPr>
        <p:spPr>
          <a:xfrm>
            <a:off x="548640" y="1371600"/>
            <a:ext cx="8138160" cy="731520"/>
          </a:xfrm>
          <a:prstGeom prst="rect">
            <a:avLst/>
          </a:prstGeom>
          <a:noFill/>
          <a:ln/>
        </p:spPr>
        <p:txBody>
          <a:bodyPr wrap="square" lIns="0" tIns="0" rIns="0" bIns="0" rtlCol="0" anchor="t"/>
          <a:lstStyle/>
          <a:p>
            <a:pPr indent="0" marL="0">
              <a:buNone/>
            </a:pPr>
            <a:r>
              <a:rPr lang="en-US" sz="1350" dirty="0">
                <a:solidFill>
                  <a:srgbClr val="6E6E73"/>
                </a:solidFill>
                <a:latin typeface="Calibri" pitchFamily="34" charset="0"/>
                <a:ea typeface="Calibri" pitchFamily="34" charset="-122"/>
                <a:cs typeface="Calibri" pitchFamily="34" charset="-120"/>
              </a:rPr>
              <a:t>Las apps deportivas comerciales (TeamSnap, GameChanger…) son potentes, pero genéricas, de pago y no cubren las competiciones por estaciones, las veladas ni la siesta. Comparé también los frameworks multiplataforma y los servicios backend disponibles:</a:t>
            </a:r>
            <a:endParaRPr lang="en-US" sz="1350" dirty="0"/>
          </a:p>
        </p:txBody>
      </p:sp>
      <p:sp>
        <p:nvSpPr>
          <p:cNvPr id="6" name="Text 4"/>
          <p:cNvSpPr/>
          <p:nvPr/>
        </p:nvSpPr>
        <p:spPr>
          <a:xfrm>
            <a:off x="548640" y="2240280"/>
            <a:ext cx="3931920" cy="274320"/>
          </a:xfrm>
          <a:prstGeom prst="rect">
            <a:avLst/>
          </a:prstGeom>
          <a:noFill/>
          <a:ln/>
        </p:spPr>
        <p:txBody>
          <a:bodyPr wrap="square" lIns="0" tIns="0" rIns="0" bIns="0" rtlCol="0" anchor="ctr"/>
          <a:lstStyle/>
          <a:p>
            <a:pPr indent="0" marL="0">
              <a:buNone/>
            </a:pPr>
            <a:r>
              <a:rPr lang="en-US" sz="1200" b="1" spc="100" kern="0" dirty="0">
                <a:solidFill>
                  <a:srgbClr val="E2711D"/>
                </a:solidFill>
                <a:latin typeface="Trebuchet MS" pitchFamily="34" charset="0"/>
                <a:ea typeface="Trebuchet MS" pitchFamily="34" charset="-122"/>
                <a:cs typeface="Trebuchet MS" pitchFamily="34" charset="-120"/>
              </a:rPr>
              <a:t>FRAMEWORKS</a:t>
            </a:r>
            <a:endParaRPr lang="en-US" sz="1200" dirty="0"/>
          </a:p>
        </p:txBody>
      </p:sp>
      <p:sp>
        <p:nvSpPr>
          <p:cNvPr id="7" name="Text 5"/>
          <p:cNvSpPr/>
          <p:nvPr/>
        </p:nvSpPr>
        <p:spPr>
          <a:xfrm>
            <a:off x="4663440" y="2240280"/>
            <a:ext cx="3931920" cy="274320"/>
          </a:xfrm>
          <a:prstGeom prst="rect">
            <a:avLst/>
          </a:prstGeom>
          <a:noFill/>
          <a:ln/>
        </p:spPr>
        <p:txBody>
          <a:bodyPr wrap="square" lIns="0" tIns="0" rIns="0" bIns="0" rtlCol="0" anchor="ctr"/>
          <a:lstStyle/>
          <a:p>
            <a:pPr indent="0" marL="0">
              <a:buNone/>
            </a:pPr>
            <a:r>
              <a:rPr lang="en-US" sz="1200" b="1" spc="100" kern="0" dirty="0">
                <a:solidFill>
                  <a:srgbClr val="E2711D"/>
                </a:solidFill>
                <a:latin typeface="Trebuchet MS" pitchFamily="34" charset="0"/>
                <a:ea typeface="Trebuchet MS" pitchFamily="34" charset="-122"/>
                <a:cs typeface="Trebuchet MS" pitchFamily="34" charset="-120"/>
              </a:rPr>
              <a:t>BACKEND (BaaS)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542032"/>
          <a:ext cx="3931920" cy="914400"/>
        </p:xfrm>
        <a:graphic>
          <a:graphicData uri="http://schemas.openxmlformats.org/drawingml/2006/table">
            <a:tbl>
              <a:tblPr/>
              <a:tblGrid>
                <a:gridCol w="1234440"/>
                <a:gridCol w="2697480"/>
              </a:tblGrid>
              <a:tr h="475488">
                <a:tc>
                  <a:txBody>
                    <a:bodyP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Framework</a:t>
                      </a:r>
                      <a:endParaRPr lang="en-US" sz="1100" dirty="0">
                        <a:latin typeface="Trebuchet MS" charset="0"/>
                        <a:ea typeface="Trebuchet MS" charset="0"/>
                        <a:cs typeface="Trebuchet MS"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17171A"/>
                    </a:solidFill>
                  </a:tcPr>
                </a:tc>
                <a:tc>
                  <a:txBody>
                    <a:bodyP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Punto clave</a:t>
                      </a:r>
                      <a:endParaRPr lang="en-US" sz="1100" dirty="0">
                        <a:latin typeface="Trebuchet MS" charset="0"/>
                        <a:ea typeface="Trebuchet MS" charset="0"/>
                        <a:cs typeface="Trebuchet MS"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17171A"/>
                    </a:solidFill>
                  </a:tcPr>
                </a:tc>
              </a:tr>
              <a:tr h="47548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Flutter  ✓</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E2711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Compila a nativo · 1 base de código</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E2711D"/>
                    </a:solidFill>
                  </a:tcPr>
                </a:tc>
              </a:tr>
              <a:tr h="475488">
                <a:tc>
                  <a:txBody>
                    <a:bodyPr/>
                    <a:lstStyle/>
                    <a:p>
                      <a:pPr algn="l" indent="0" marL="0">
                        <a:buNone/>
                      </a:pPr>
                      <a:r>
                        <a:rPr lang="en-US" sz="1100" dirty="0">
                          <a:solidFill>
                            <a:srgbClr val="1F1F23"/>
                          </a:solidFill>
                          <a:latin typeface="Calibri" pitchFamily="34" charset="0"/>
                          <a:ea typeface="Calibri" pitchFamily="34" charset="-122"/>
                          <a:cs typeface="Calibri" pitchFamily="34" charset="-120"/>
                        </a:rPr>
                        <a:t>React Native</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F6F2EC"/>
                    </a:solidFill>
                  </a:tcPr>
                </a:tc>
                <a:tc>
                  <a:txBody>
                    <a:bodyPr/>
                    <a:lstStyle/>
                    <a:p>
                      <a:pPr algn="l" indent="0" marL="0">
                        <a:buNone/>
                      </a:pPr>
                      <a:r>
                        <a:rPr lang="en-US" sz="1100" dirty="0">
                          <a:solidFill>
                            <a:srgbClr val="1F1F23"/>
                          </a:solidFill>
                          <a:latin typeface="Calibri" pitchFamily="34" charset="0"/>
                          <a:ea typeface="Calibri" pitchFamily="34" charset="-122"/>
                          <a:cs typeface="Calibri" pitchFamily="34" charset="-120"/>
                        </a:rPr>
                        <a:t>Puente JS · menos fluido</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F6F2EC"/>
                    </a:solidFill>
                  </a:tcPr>
                </a:tc>
              </a:tr>
              <a:tr h="475488">
                <a:tc>
                  <a:txBody>
                    <a:bodyPr/>
                    <a:lstStyle/>
                    <a:p>
                      <a:pPr algn="l" indent="0" marL="0">
                        <a:buNone/>
                      </a:pPr>
                      <a:r>
                        <a:rPr lang="en-US" sz="1100" dirty="0">
                          <a:solidFill>
                            <a:srgbClr val="1F1F23"/>
                          </a:solidFill>
                          <a:latin typeface="Calibri" pitchFamily="34" charset="0"/>
                          <a:ea typeface="Calibri" pitchFamily="34" charset="-122"/>
                          <a:cs typeface="Calibri" pitchFamily="34" charset="-120"/>
                        </a:rPr>
                        <a:t>Ionic</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F6F2EC"/>
                    </a:solidFill>
                  </a:tcPr>
                </a:tc>
                <a:tc>
                  <a:txBody>
                    <a:bodyPr/>
                    <a:lstStyle/>
                    <a:p>
                      <a:pPr algn="l" indent="0" marL="0">
                        <a:buNone/>
                      </a:pPr>
                      <a:r>
                        <a:rPr lang="en-US" sz="1100" dirty="0">
                          <a:solidFill>
                            <a:srgbClr val="1F1F23"/>
                          </a:solidFill>
                          <a:latin typeface="Calibri" pitchFamily="34" charset="0"/>
                          <a:ea typeface="Calibri" pitchFamily="34" charset="-122"/>
                          <a:cs typeface="Calibri" pitchFamily="34" charset="-120"/>
                        </a:rPr>
                        <a:t>WebView · rendimiento bajo</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F6F2EC"/>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663440" y="2542032"/>
          <a:ext cx="3931920" cy="914400"/>
        </p:xfrm>
        <a:graphic>
          <a:graphicData uri="http://schemas.openxmlformats.org/drawingml/2006/table">
            <a:tbl>
              <a:tblPr/>
              <a:tblGrid>
                <a:gridCol w="1325880"/>
                <a:gridCol w="2606040"/>
              </a:tblGrid>
              <a:tr h="475488">
                <a:tc>
                  <a:txBody>
                    <a:bodyP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Backend</a:t>
                      </a:r>
                      <a:endParaRPr lang="en-US" sz="1100" dirty="0">
                        <a:latin typeface="Trebuchet MS" charset="0"/>
                        <a:ea typeface="Trebuchet MS" charset="0"/>
                        <a:cs typeface="Trebuchet MS"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17171A"/>
                    </a:solidFill>
                  </a:tcPr>
                </a:tc>
                <a:tc>
                  <a:txBody>
                    <a:bodyPr/>
                    <a:lstStyle/>
                    <a:p>
                      <a:pPr algn="l" indent="0" marL="0">
                        <a:buNone/>
                      </a:pPr>
                      <a:r>
                        <a:rPr lang="en-US" sz="1100" b="1" dirty="0">
                          <a:solidFill>
                            <a:srgbClr val="FFFFFF"/>
                          </a:solidFill>
                          <a:latin typeface="Trebuchet MS" pitchFamily="34" charset="0"/>
                          <a:ea typeface="Trebuchet MS" pitchFamily="34" charset="-122"/>
                          <a:cs typeface="Trebuchet MS" pitchFamily="34" charset="-120"/>
                        </a:rPr>
                        <a:t>Punto clave</a:t>
                      </a:r>
                      <a:endParaRPr lang="en-US" sz="1100" dirty="0">
                        <a:latin typeface="Trebuchet MS" charset="0"/>
                        <a:ea typeface="Trebuchet MS" charset="0"/>
                        <a:cs typeface="Trebuchet MS"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17171A"/>
                    </a:solidFill>
                  </a:tcPr>
                </a:tc>
              </a:tr>
              <a:tr h="47548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Supabase  ✓</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E2711D"/>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PostgreSQL · RLS · tiempo real</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E2711D"/>
                    </a:solidFill>
                  </a:tcPr>
                </a:tc>
              </a:tr>
              <a:tr h="475488">
                <a:tc>
                  <a:txBody>
                    <a:bodyPr/>
                    <a:lstStyle/>
                    <a:p>
                      <a:pPr algn="l" indent="0" marL="0">
                        <a:buNone/>
                      </a:pPr>
                      <a:r>
                        <a:rPr lang="en-US" sz="1100" dirty="0">
                          <a:solidFill>
                            <a:srgbClr val="1F1F23"/>
                          </a:solidFill>
                          <a:latin typeface="Calibri" pitchFamily="34" charset="0"/>
                          <a:ea typeface="Calibri" pitchFamily="34" charset="-122"/>
                          <a:cs typeface="Calibri" pitchFamily="34" charset="-120"/>
                        </a:rPr>
                        <a:t>Firebase</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F6F2EC"/>
                    </a:solidFill>
                  </a:tcPr>
                </a:tc>
                <a:tc>
                  <a:txBody>
                    <a:bodyPr/>
                    <a:lstStyle/>
                    <a:p>
                      <a:pPr algn="l" indent="0" marL="0">
                        <a:buNone/>
                      </a:pPr>
                      <a:r>
                        <a:rPr lang="en-US" sz="1100" dirty="0">
                          <a:solidFill>
                            <a:srgbClr val="1F1F23"/>
                          </a:solidFill>
                          <a:latin typeface="Calibri" pitchFamily="34" charset="0"/>
                          <a:ea typeface="Calibri" pitchFamily="34" charset="-122"/>
                          <a:cs typeface="Calibri" pitchFamily="34" charset="-120"/>
                        </a:rPr>
                        <a:t>NoSQL · complica lo relacional</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F6F2EC"/>
                    </a:solidFill>
                  </a:tcPr>
                </a:tc>
              </a:tr>
              <a:tr h="475488">
                <a:tc>
                  <a:txBody>
                    <a:bodyPr/>
                    <a:lstStyle/>
                    <a:p>
                      <a:pPr algn="l" indent="0" marL="0">
                        <a:buNone/>
                      </a:pPr>
                      <a:r>
                        <a:rPr lang="en-US" sz="1100" dirty="0">
                          <a:solidFill>
                            <a:srgbClr val="1F1F23"/>
                          </a:solidFill>
                          <a:latin typeface="Calibri" pitchFamily="34" charset="0"/>
                          <a:ea typeface="Calibri" pitchFamily="34" charset="-122"/>
                          <a:cs typeface="Calibri" pitchFamily="34" charset="-120"/>
                        </a:rPr>
                        <a:t>AWS Amplify</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F6F2EC"/>
                    </a:solidFill>
                  </a:tcPr>
                </a:tc>
                <a:tc>
                  <a:txBody>
                    <a:bodyPr/>
                    <a:lstStyle/>
                    <a:p>
                      <a:pPr algn="l" indent="0" marL="0">
                        <a:buNone/>
                      </a:pPr>
                      <a:r>
                        <a:rPr lang="en-US" sz="1100" dirty="0">
                          <a:solidFill>
                            <a:srgbClr val="1F1F23"/>
                          </a:solidFill>
                          <a:latin typeface="Calibri" pitchFamily="34" charset="0"/>
                          <a:ea typeface="Calibri" pitchFamily="34" charset="-122"/>
                          <a:cs typeface="Calibri" pitchFamily="34" charset="-120"/>
                        </a:rPr>
                        <a:t>Potente · configuración compleja</a:t>
                      </a:r>
                      <a:endParaRPr lang="en-US" sz="1100" dirty="0">
                        <a:latin typeface="Calibri" charset="0"/>
                        <a:ea typeface="Calibri" charset="0"/>
                        <a:cs typeface="Calibri" charset="0"/>
                      </a:endParaRPr>
                    </a:p>
                  </a:txBody>
                  <a:tcPr marL="50800" marR="50800" marT="50800" marB="50800" anchor="ctr">
                    <a:lnL w="12700" cap="flat" cmpd="sng" algn="ctr">
                      <a:solidFill>
                        <a:srgbClr val="E7E2DA"/>
                      </a:solidFill>
                      <a:prstDash val="solid"/>
                      <a:round/>
                      <a:headEnd type="none" w="med" len="med"/>
                      <a:tailEnd type="none" w="med" len="med"/>
                    </a:lnL>
                    <a:lnR w="12700" cap="flat" cmpd="sng" algn="ctr">
                      <a:solidFill>
                        <a:srgbClr val="E7E2DA"/>
                      </a:solidFill>
                      <a:prstDash val="solid"/>
                      <a:round/>
                      <a:headEnd type="none" w="med" len="med"/>
                      <a:tailEnd type="none" w="med" len="med"/>
                    </a:lnR>
                    <a:lnT w="12700" cap="flat" cmpd="sng" algn="ctr">
                      <a:solidFill>
                        <a:srgbClr val="E7E2DA"/>
                      </a:solidFill>
                      <a:prstDash val="solid"/>
                      <a:round/>
                      <a:headEnd type="none" w="med" len="med"/>
                      <a:tailEnd type="none" w="med" len="med"/>
                    </a:lnT>
                    <a:lnB w="12700" cap="flat" cmpd="sng" algn="ctr">
                      <a:solidFill>
                        <a:srgbClr val="E7E2DA"/>
                      </a:solidFill>
                      <a:prstDash val="solid"/>
                      <a:round/>
                      <a:headEnd type="none" w="med" len="med"/>
                      <a:tailEnd type="none" w="med" len="med"/>
                    </a:lnB>
                    <a:solidFill>
                      <a:srgbClr val="F6F2EC"/>
                    </a:solidFill>
                  </a:tcPr>
                </a:tc>
              </a:tr>
            </a:tbl>
          </a:graphicData>
        </a:graphic>
      </p:graphicFrame>
      <p:sp>
        <p:nvSpPr>
          <p:cNvPr id="10" name="Text 6"/>
          <p:cNvSpPr/>
          <p:nvPr/>
        </p:nvSpPr>
        <p:spPr>
          <a:xfrm>
            <a:off x="548640" y="4572000"/>
            <a:ext cx="8138160" cy="365760"/>
          </a:xfrm>
          <a:prstGeom prst="rect">
            <a:avLst/>
          </a:prstGeom>
          <a:noFill/>
          <a:ln/>
        </p:spPr>
        <p:txBody>
          <a:bodyPr wrap="square" lIns="0" tIns="0" rIns="0" bIns="0" rtlCol="0" anchor="ctr"/>
          <a:lstStyle/>
          <a:p>
            <a:pPr indent="0" marL="0">
              <a:buNone/>
            </a:pPr>
            <a:r>
              <a:rPr lang="en-US" sz="1250" i="1" dirty="0">
                <a:solidFill>
                  <a:srgbClr val="E2711D"/>
                </a:solidFill>
                <a:latin typeface="Calibri" pitchFamily="34" charset="0"/>
                <a:ea typeface="Calibri" pitchFamily="34" charset="-122"/>
                <a:cs typeface="Calibri" pitchFamily="34" charset="-120"/>
              </a:rPr>
              <a:t>De ahí salen las dos decisiones clave del proyecto: Flutter y Supabase.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03 · DECISIONES</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¿Por qué este stack?</a:t>
            </a:r>
            <a:endParaRPr lang="en-US" sz="2600" dirty="0"/>
          </a:p>
        </p:txBody>
      </p:sp>
      <p:sp>
        <p:nvSpPr>
          <p:cNvPr id="5" name="Shape 3"/>
          <p:cNvSpPr/>
          <p:nvPr/>
        </p:nvSpPr>
        <p:spPr>
          <a:xfrm>
            <a:off x="548640" y="1554480"/>
            <a:ext cx="2679192" cy="2926080"/>
          </a:xfrm>
          <a:prstGeom prst="roundRect">
            <a:avLst>
              <a:gd name="adj" fmla="val 2048"/>
            </a:avLst>
          </a:prstGeom>
          <a:solidFill>
            <a:srgbClr val="F6F2EC"/>
          </a:solidFill>
          <a:ln w="12700">
            <a:solidFill>
              <a:srgbClr val="E7E2DA"/>
            </a:solidFill>
            <a:prstDash val="solid"/>
          </a:ln>
        </p:spPr>
      </p:sp>
      <p:sp>
        <p:nvSpPr>
          <p:cNvPr id="6" name="Shape 4"/>
          <p:cNvSpPr/>
          <p:nvPr/>
        </p:nvSpPr>
        <p:spPr>
          <a:xfrm>
            <a:off x="1568196" y="1828800"/>
            <a:ext cx="640080" cy="64008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1721815" y="1982419"/>
            <a:ext cx="332842" cy="332842"/>
          </a:xfrm>
          <a:prstGeom prst="rect">
            <a:avLst/>
          </a:prstGeom>
        </p:spPr>
      </p:pic>
      <p:sp>
        <p:nvSpPr>
          <p:cNvPr id="8" name="Text 5"/>
          <p:cNvSpPr/>
          <p:nvPr/>
        </p:nvSpPr>
        <p:spPr>
          <a:xfrm>
            <a:off x="548640" y="2606040"/>
            <a:ext cx="2679192" cy="365760"/>
          </a:xfrm>
          <a:prstGeom prst="rect">
            <a:avLst/>
          </a:prstGeom>
          <a:noFill/>
          <a:ln/>
        </p:spPr>
        <p:txBody>
          <a:bodyPr wrap="square" lIns="0" tIns="0" rIns="0" bIns="0" rtlCol="0" anchor="ctr"/>
          <a:lstStyle/>
          <a:p>
            <a:pPr algn="ctr" indent="0" marL="0">
              <a:buNone/>
            </a:pPr>
            <a:r>
              <a:rPr lang="en-US" sz="1800" dirty="0">
                <a:solidFill>
                  <a:srgbClr val="1F1F23"/>
                </a:solidFill>
                <a:latin typeface="Arial Black" pitchFamily="34" charset="0"/>
                <a:ea typeface="Arial Black" pitchFamily="34" charset="-122"/>
                <a:cs typeface="Arial Black" pitchFamily="34" charset="-120"/>
              </a:rPr>
              <a:t>Flutter</a:t>
            </a:r>
            <a:endParaRPr lang="en-US" sz="1800" dirty="0"/>
          </a:p>
        </p:txBody>
      </p:sp>
      <p:sp>
        <p:nvSpPr>
          <p:cNvPr id="9" name="Text 6"/>
          <p:cNvSpPr/>
          <p:nvPr/>
        </p:nvSpPr>
        <p:spPr>
          <a:xfrm>
            <a:off x="777240" y="3017520"/>
            <a:ext cx="2221992" cy="1371600"/>
          </a:xfrm>
          <a:prstGeom prst="rect">
            <a:avLst/>
          </a:prstGeom>
          <a:noFill/>
          <a:ln/>
        </p:spPr>
        <p:txBody>
          <a:bodyPr wrap="square" lIns="0" tIns="0" rIns="0" bIns="0" rtlCol="0" anchor="t"/>
          <a:lstStyle/>
          <a:p>
            <a:pPr algn="ctr" indent="0" marL="0">
              <a:buNone/>
            </a:pPr>
            <a:r>
              <a:rPr lang="en-US" sz="1200" dirty="0">
                <a:solidFill>
                  <a:srgbClr val="6E6E73"/>
                </a:solidFill>
                <a:latin typeface="Calibri" pitchFamily="34" charset="0"/>
                <a:ea typeface="Calibri" pitchFamily="34" charset="-122"/>
                <a:cs typeface="Calibri" pitchFamily="34" charset="-120"/>
              </a:rPr>
              <a:t>Una sola base de código compila a Android, iOS y web. Frente a React Native o desarrollo nativo, máxima reutilización.</a:t>
            </a:r>
            <a:endParaRPr lang="en-US" sz="1200" dirty="0"/>
          </a:p>
        </p:txBody>
      </p:sp>
      <p:sp>
        <p:nvSpPr>
          <p:cNvPr id="10" name="Shape 7"/>
          <p:cNvSpPr/>
          <p:nvPr/>
        </p:nvSpPr>
        <p:spPr>
          <a:xfrm>
            <a:off x="3410712" y="1554480"/>
            <a:ext cx="2679192" cy="2926080"/>
          </a:xfrm>
          <a:prstGeom prst="roundRect">
            <a:avLst>
              <a:gd name="adj" fmla="val 2048"/>
            </a:avLst>
          </a:prstGeom>
          <a:solidFill>
            <a:srgbClr val="F6F2EC"/>
          </a:solidFill>
          <a:ln w="12700">
            <a:solidFill>
              <a:srgbClr val="E7E2DA"/>
            </a:solidFill>
            <a:prstDash val="solid"/>
          </a:ln>
        </p:spPr>
      </p:sp>
      <p:sp>
        <p:nvSpPr>
          <p:cNvPr id="11" name="Shape 8"/>
          <p:cNvSpPr/>
          <p:nvPr/>
        </p:nvSpPr>
        <p:spPr>
          <a:xfrm>
            <a:off x="4430268" y="1828800"/>
            <a:ext cx="640080" cy="64008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2" name="Image 1" descr="preencoded.png">    </p:cNvPr>
          <p:cNvPicPr>
            <a:picLocks noChangeAspect="1"/>
          </p:cNvPicPr>
          <p:nvPr/>
        </p:nvPicPr>
        <p:blipFill>
          <a:blip r:embed="rId2"/>
          <a:stretch>
            <a:fillRect/>
          </a:stretch>
        </p:blipFill>
        <p:spPr>
          <a:xfrm>
            <a:off x="4583887" y="1982419"/>
            <a:ext cx="332842" cy="332842"/>
          </a:xfrm>
          <a:prstGeom prst="rect">
            <a:avLst/>
          </a:prstGeom>
        </p:spPr>
      </p:pic>
      <p:sp>
        <p:nvSpPr>
          <p:cNvPr id="13" name="Text 9"/>
          <p:cNvSpPr/>
          <p:nvPr/>
        </p:nvSpPr>
        <p:spPr>
          <a:xfrm>
            <a:off x="3410712" y="2606040"/>
            <a:ext cx="2679192" cy="365760"/>
          </a:xfrm>
          <a:prstGeom prst="rect">
            <a:avLst/>
          </a:prstGeom>
          <a:noFill/>
          <a:ln/>
        </p:spPr>
        <p:txBody>
          <a:bodyPr wrap="square" lIns="0" tIns="0" rIns="0" bIns="0" rtlCol="0" anchor="ctr"/>
          <a:lstStyle/>
          <a:p>
            <a:pPr algn="ctr" indent="0" marL="0">
              <a:buNone/>
            </a:pPr>
            <a:r>
              <a:rPr lang="en-US" sz="1800" dirty="0">
                <a:solidFill>
                  <a:srgbClr val="1F1F23"/>
                </a:solidFill>
                <a:latin typeface="Arial Black" pitchFamily="34" charset="0"/>
                <a:ea typeface="Arial Black" pitchFamily="34" charset="-122"/>
                <a:cs typeface="Arial Black" pitchFamily="34" charset="-120"/>
              </a:rPr>
              <a:t>Supabase</a:t>
            </a:r>
            <a:endParaRPr lang="en-US" sz="1800" dirty="0"/>
          </a:p>
        </p:txBody>
      </p:sp>
      <p:sp>
        <p:nvSpPr>
          <p:cNvPr id="14" name="Text 10"/>
          <p:cNvSpPr/>
          <p:nvPr/>
        </p:nvSpPr>
        <p:spPr>
          <a:xfrm>
            <a:off x="3639312" y="3017520"/>
            <a:ext cx="2221992" cy="1371600"/>
          </a:xfrm>
          <a:prstGeom prst="rect">
            <a:avLst/>
          </a:prstGeom>
          <a:noFill/>
          <a:ln/>
        </p:spPr>
        <p:txBody>
          <a:bodyPr wrap="square" lIns="0" tIns="0" rIns="0" bIns="0" rtlCol="0" anchor="t"/>
          <a:lstStyle/>
          <a:p>
            <a:pPr algn="ctr" indent="0" marL="0">
              <a:buNone/>
            </a:pPr>
            <a:r>
              <a:rPr lang="en-US" sz="1200" dirty="0">
                <a:solidFill>
                  <a:srgbClr val="6E6E73"/>
                </a:solidFill>
                <a:latin typeface="Calibri" pitchFamily="34" charset="0"/>
                <a:ea typeface="Calibri" pitchFamily="34" charset="-122"/>
                <a:cs typeface="Calibri" pitchFamily="34" charset="-120"/>
              </a:rPr>
              <a:t>Backend gestionado (PostgreSQL, Auth, Realtime y RLS). Más control relacional que Firebase para los datos del campus.</a:t>
            </a:r>
            <a:endParaRPr lang="en-US" sz="1200" dirty="0"/>
          </a:p>
        </p:txBody>
      </p:sp>
      <p:sp>
        <p:nvSpPr>
          <p:cNvPr id="15" name="Shape 11"/>
          <p:cNvSpPr/>
          <p:nvPr/>
        </p:nvSpPr>
        <p:spPr>
          <a:xfrm>
            <a:off x="6272784" y="1554480"/>
            <a:ext cx="2679192" cy="2926080"/>
          </a:xfrm>
          <a:prstGeom prst="roundRect">
            <a:avLst>
              <a:gd name="adj" fmla="val 2048"/>
            </a:avLst>
          </a:prstGeom>
          <a:solidFill>
            <a:srgbClr val="F6F2EC"/>
          </a:solidFill>
          <a:ln w="12700">
            <a:solidFill>
              <a:srgbClr val="E7E2DA"/>
            </a:solidFill>
            <a:prstDash val="solid"/>
          </a:ln>
        </p:spPr>
      </p:sp>
      <p:sp>
        <p:nvSpPr>
          <p:cNvPr id="16" name="Shape 12"/>
          <p:cNvSpPr/>
          <p:nvPr/>
        </p:nvSpPr>
        <p:spPr>
          <a:xfrm>
            <a:off x="7292340" y="1828800"/>
            <a:ext cx="640080" cy="64008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7" name="Image 2" descr="preencoded.png">    </p:cNvPr>
          <p:cNvPicPr>
            <a:picLocks noChangeAspect="1"/>
          </p:cNvPicPr>
          <p:nvPr/>
        </p:nvPicPr>
        <p:blipFill>
          <a:blip r:embed="rId3"/>
          <a:stretch>
            <a:fillRect/>
          </a:stretch>
        </p:blipFill>
        <p:spPr>
          <a:xfrm>
            <a:off x="7445959" y="1982419"/>
            <a:ext cx="332842" cy="332842"/>
          </a:xfrm>
          <a:prstGeom prst="rect">
            <a:avLst/>
          </a:prstGeom>
        </p:spPr>
      </p:pic>
      <p:sp>
        <p:nvSpPr>
          <p:cNvPr id="18" name="Text 13"/>
          <p:cNvSpPr/>
          <p:nvPr/>
        </p:nvSpPr>
        <p:spPr>
          <a:xfrm>
            <a:off x="6272784" y="2606040"/>
            <a:ext cx="2679192" cy="365760"/>
          </a:xfrm>
          <a:prstGeom prst="rect">
            <a:avLst/>
          </a:prstGeom>
          <a:noFill/>
          <a:ln/>
        </p:spPr>
        <p:txBody>
          <a:bodyPr wrap="square" lIns="0" tIns="0" rIns="0" bIns="0" rtlCol="0" anchor="ctr"/>
          <a:lstStyle/>
          <a:p>
            <a:pPr algn="ctr" indent="0" marL="0">
              <a:buNone/>
            </a:pPr>
            <a:r>
              <a:rPr lang="en-US" sz="1800" dirty="0">
                <a:solidFill>
                  <a:srgbClr val="1F1F23"/>
                </a:solidFill>
                <a:latin typeface="Arial Black" pitchFamily="34" charset="0"/>
                <a:ea typeface="Arial Black" pitchFamily="34" charset="-122"/>
                <a:cs typeface="Arial Black" pitchFamily="34" charset="-120"/>
              </a:rPr>
              <a:t>PWA</a:t>
            </a:r>
            <a:endParaRPr lang="en-US" sz="1800" dirty="0"/>
          </a:p>
        </p:txBody>
      </p:sp>
      <p:sp>
        <p:nvSpPr>
          <p:cNvPr id="19" name="Text 14"/>
          <p:cNvSpPr/>
          <p:nvPr/>
        </p:nvSpPr>
        <p:spPr>
          <a:xfrm>
            <a:off x="6501384" y="3017520"/>
            <a:ext cx="2221992" cy="1371600"/>
          </a:xfrm>
          <a:prstGeom prst="rect">
            <a:avLst/>
          </a:prstGeom>
          <a:noFill/>
          <a:ln/>
        </p:spPr>
        <p:txBody>
          <a:bodyPr wrap="square" lIns="0" tIns="0" rIns="0" bIns="0" rtlCol="0" anchor="t"/>
          <a:lstStyle/>
          <a:p>
            <a:pPr algn="ctr" indent="0" marL="0">
              <a:buNone/>
            </a:pPr>
            <a:r>
              <a:rPr lang="en-US" sz="1200" dirty="0">
                <a:solidFill>
                  <a:srgbClr val="6E6E73"/>
                </a:solidFill>
                <a:latin typeface="Calibri" pitchFamily="34" charset="0"/>
                <a:ea typeface="Calibri" pitchFamily="34" charset="-122"/>
                <a:cs typeface="Calibri" pitchFamily="34" charset="-120"/>
              </a:rPr>
              <a:t>La versión web se instala como app y funciona sin tiendas, clave para que cualquiera la use al instante.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04 · DISEÑO</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Arquitectura del sistema</a:t>
            </a:r>
            <a:endParaRPr lang="en-US" sz="2600" dirty="0"/>
          </a:p>
        </p:txBody>
      </p:sp>
      <p:sp>
        <p:nvSpPr>
          <p:cNvPr id="5" name="Text 3"/>
          <p:cNvSpPr/>
          <p:nvPr/>
        </p:nvSpPr>
        <p:spPr>
          <a:xfrm>
            <a:off x="548640" y="1417320"/>
            <a:ext cx="4754880" cy="64008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Clean Architecture por funcionalidades (feature-first), con la regla de dependencia hacia el dominio:</a:t>
            </a:r>
            <a:endParaRPr lang="en-US" sz="1400" dirty="0"/>
          </a:p>
        </p:txBody>
      </p:sp>
      <p:sp>
        <p:nvSpPr>
          <p:cNvPr id="6" name="Shape 4"/>
          <p:cNvSpPr/>
          <p:nvPr/>
        </p:nvSpPr>
        <p:spPr>
          <a:xfrm>
            <a:off x="548640" y="2148840"/>
            <a:ext cx="4754880" cy="749808"/>
          </a:xfrm>
          <a:prstGeom prst="roundRect">
            <a:avLst>
              <a:gd name="adj" fmla="val 7317"/>
            </a:avLst>
          </a:prstGeom>
          <a:solidFill>
            <a:srgbClr val="E2711D"/>
          </a:solidFill>
          <a:ln/>
        </p:spPr>
      </p:sp>
      <p:sp>
        <p:nvSpPr>
          <p:cNvPr id="7" name="Text 5"/>
          <p:cNvSpPr/>
          <p:nvPr/>
        </p:nvSpPr>
        <p:spPr>
          <a:xfrm>
            <a:off x="777240" y="2240280"/>
            <a:ext cx="1828800" cy="548640"/>
          </a:xfrm>
          <a:prstGeom prst="rect">
            <a:avLst/>
          </a:prstGeom>
          <a:noFill/>
          <a:ln/>
        </p:spPr>
        <p:txBody>
          <a:bodyPr wrap="square" lIns="0" tIns="0" rIns="0" bIns="0" rtlCol="0" anchor="ctr"/>
          <a:lstStyle/>
          <a:p>
            <a:pPr indent="0" marL="0">
              <a:buNone/>
            </a:pPr>
            <a:r>
              <a:rPr lang="en-US" sz="1500" dirty="0">
                <a:solidFill>
                  <a:srgbClr val="FFFFFF"/>
                </a:solidFill>
                <a:latin typeface="Arial Black" pitchFamily="34" charset="0"/>
                <a:ea typeface="Arial Black" pitchFamily="34" charset="-122"/>
                <a:cs typeface="Arial Black" pitchFamily="34" charset="-120"/>
              </a:rPr>
              <a:t>Presentación</a:t>
            </a:r>
            <a:endParaRPr lang="en-US" sz="1500" dirty="0"/>
          </a:p>
        </p:txBody>
      </p:sp>
      <p:sp>
        <p:nvSpPr>
          <p:cNvPr id="8" name="Text 6"/>
          <p:cNvSpPr/>
          <p:nvPr/>
        </p:nvSpPr>
        <p:spPr>
          <a:xfrm>
            <a:off x="2468880" y="2240280"/>
            <a:ext cx="2743200" cy="548640"/>
          </a:xfrm>
          <a:prstGeom prst="rect">
            <a:avLst/>
          </a:prstGeom>
          <a:noFill/>
          <a:ln/>
        </p:spPr>
        <p:txBody>
          <a:bodyPr wrap="square" lIns="0" tIns="0" rIns="0" bIns="0" rtlCol="0" anchor="ctr"/>
          <a:lstStyle/>
          <a:p>
            <a:pPr algn="r" indent="0" marL="0">
              <a:buNone/>
            </a:pPr>
            <a:r>
              <a:rPr lang="en-US" sz="1200" dirty="0">
                <a:solidFill>
                  <a:srgbClr val="FBEFE3"/>
                </a:solidFill>
                <a:latin typeface="Calibri" pitchFamily="34" charset="0"/>
                <a:ea typeface="Calibri" pitchFamily="34" charset="-122"/>
                <a:cs typeface="Calibri" pitchFamily="34" charset="-120"/>
              </a:rPr>
              <a:t>Pantallas + Riverpod (estado)</a:t>
            </a:r>
            <a:endParaRPr lang="en-US" sz="1200" dirty="0"/>
          </a:p>
        </p:txBody>
      </p:sp>
      <p:sp>
        <p:nvSpPr>
          <p:cNvPr id="9" name="Shape 7"/>
          <p:cNvSpPr/>
          <p:nvPr/>
        </p:nvSpPr>
        <p:spPr>
          <a:xfrm>
            <a:off x="548640" y="3017520"/>
            <a:ext cx="4754880" cy="749808"/>
          </a:xfrm>
          <a:prstGeom prst="roundRect">
            <a:avLst>
              <a:gd name="adj" fmla="val 7317"/>
            </a:avLst>
          </a:prstGeom>
          <a:solidFill>
            <a:srgbClr val="B5601A"/>
          </a:solidFill>
          <a:ln/>
        </p:spPr>
      </p:sp>
      <p:sp>
        <p:nvSpPr>
          <p:cNvPr id="10" name="Text 8"/>
          <p:cNvSpPr/>
          <p:nvPr/>
        </p:nvSpPr>
        <p:spPr>
          <a:xfrm>
            <a:off x="777240" y="3108960"/>
            <a:ext cx="1828800" cy="548640"/>
          </a:xfrm>
          <a:prstGeom prst="rect">
            <a:avLst/>
          </a:prstGeom>
          <a:noFill/>
          <a:ln/>
        </p:spPr>
        <p:txBody>
          <a:bodyPr wrap="square" lIns="0" tIns="0" rIns="0" bIns="0" rtlCol="0" anchor="ctr"/>
          <a:lstStyle/>
          <a:p>
            <a:pPr indent="0" marL="0">
              <a:buNone/>
            </a:pPr>
            <a:r>
              <a:rPr lang="en-US" sz="1500" dirty="0">
                <a:solidFill>
                  <a:srgbClr val="FFFFFF"/>
                </a:solidFill>
                <a:latin typeface="Arial Black" pitchFamily="34" charset="0"/>
                <a:ea typeface="Arial Black" pitchFamily="34" charset="-122"/>
                <a:cs typeface="Arial Black" pitchFamily="34" charset="-120"/>
              </a:rPr>
              <a:t>Dominio</a:t>
            </a:r>
            <a:endParaRPr lang="en-US" sz="1500" dirty="0"/>
          </a:p>
        </p:txBody>
      </p:sp>
      <p:sp>
        <p:nvSpPr>
          <p:cNvPr id="11" name="Text 9"/>
          <p:cNvSpPr/>
          <p:nvPr/>
        </p:nvSpPr>
        <p:spPr>
          <a:xfrm>
            <a:off x="2468880" y="3108960"/>
            <a:ext cx="2743200" cy="548640"/>
          </a:xfrm>
          <a:prstGeom prst="rect">
            <a:avLst/>
          </a:prstGeom>
          <a:noFill/>
          <a:ln/>
        </p:spPr>
        <p:txBody>
          <a:bodyPr wrap="square" lIns="0" tIns="0" rIns="0" bIns="0" rtlCol="0" anchor="ctr"/>
          <a:lstStyle/>
          <a:p>
            <a:pPr algn="r" indent="0" marL="0">
              <a:buNone/>
            </a:pPr>
            <a:r>
              <a:rPr lang="en-US" sz="1200" dirty="0">
                <a:solidFill>
                  <a:srgbClr val="FBEFE3"/>
                </a:solidFill>
                <a:latin typeface="Calibri" pitchFamily="34" charset="0"/>
                <a:ea typeface="Calibri" pitchFamily="34" charset="-122"/>
                <a:cs typeface="Calibri" pitchFamily="34" charset="-120"/>
              </a:rPr>
              <a:t>Lógica de negocio y modelos</a:t>
            </a:r>
            <a:endParaRPr lang="en-US" sz="1200" dirty="0"/>
          </a:p>
        </p:txBody>
      </p:sp>
      <p:sp>
        <p:nvSpPr>
          <p:cNvPr id="12" name="Shape 10"/>
          <p:cNvSpPr/>
          <p:nvPr/>
        </p:nvSpPr>
        <p:spPr>
          <a:xfrm>
            <a:off x="548640" y="3886200"/>
            <a:ext cx="4754880" cy="749808"/>
          </a:xfrm>
          <a:prstGeom prst="roundRect">
            <a:avLst>
              <a:gd name="adj" fmla="val 7317"/>
            </a:avLst>
          </a:prstGeom>
          <a:solidFill>
            <a:srgbClr val="7A3E10"/>
          </a:solidFill>
          <a:ln/>
        </p:spPr>
      </p:sp>
      <p:sp>
        <p:nvSpPr>
          <p:cNvPr id="13" name="Text 11"/>
          <p:cNvSpPr/>
          <p:nvPr/>
        </p:nvSpPr>
        <p:spPr>
          <a:xfrm>
            <a:off x="777240" y="3977640"/>
            <a:ext cx="1828800" cy="548640"/>
          </a:xfrm>
          <a:prstGeom prst="rect">
            <a:avLst/>
          </a:prstGeom>
          <a:noFill/>
          <a:ln/>
        </p:spPr>
        <p:txBody>
          <a:bodyPr wrap="square" lIns="0" tIns="0" rIns="0" bIns="0" rtlCol="0" anchor="ctr"/>
          <a:lstStyle/>
          <a:p>
            <a:pPr indent="0" marL="0">
              <a:buNone/>
            </a:pPr>
            <a:r>
              <a:rPr lang="en-US" sz="1500" dirty="0">
                <a:solidFill>
                  <a:srgbClr val="FFFFFF"/>
                </a:solidFill>
                <a:latin typeface="Arial Black" pitchFamily="34" charset="0"/>
                <a:ea typeface="Arial Black" pitchFamily="34" charset="-122"/>
                <a:cs typeface="Arial Black" pitchFamily="34" charset="-120"/>
              </a:rPr>
              <a:t>Datos</a:t>
            </a:r>
            <a:endParaRPr lang="en-US" sz="1500" dirty="0"/>
          </a:p>
        </p:txBody>
      </p:sp>
      <p:sp>
        <p:nvSpPr>
          <p:cNvPr id="14" name="Text 12"/>
          <p:cNvSpPr/>
          <p:nvPr/>
        </p:nvSpPr>
        <p:spPr>
          <a:xfrm>
            <a:off x="2468880" y="3977640"/>
            <a:ext cx="2743200" cy="548640"/>
          </a:xfrm>
          <a:prstGeom prst="rect">
            <a:avLst/>
          </a:prstGeom>
          <a:noFill/>
          <a:ln/>
        </p:spPr>
        <p:txBody>
          <a:bodyPr wrap="square" lIns="0" tIns="0" rIns="0" bIns="0" rtlCol="0" anchor="ctr"/>
          <a:lstStyle/>
          <a:p>
            <a:pPr algn="r" indent="0" marL="0">
              <a:buNone/>
            </a:pPr>
            <a:r>
              <a:rPr lang="en-US" sz="1200" dirty="0">
                <a:solidFill>
                  <a:srgbClr val="FBEFE3"/>
                </a:solidFill>
                <a:latin typeface="Calibri" pitchFamily="34" charset="0"/>
                <a:ea typeface="Calibri" pitchFamily="34" charset="-122"/>
                <a:cs typeface="Calibri" pitchFamily="34" charset="-120"/>
              </a:rPr>
              <a:t>Repositorios · Supabase / Cloudinary</a:t>
            </a:r>
            <a:endParaRPr lang="en-US" sz="1200" dirty="0"/>
          </a:p>
        </p:txBody>
      </p:sp>
      <p:sp>
        <p:nvSpPr>
          <p:cNvPr id="15" name="Shape 13"/>
          <p:cNvSpPr/>
          <p:nvPr/>
        </p:nvSpPr>
        <p:spPr>
          <a:xfrm>
            <a:off x="5577840" y="1417320"/>
            <a:ext cx="3017520" cy="3246120"/>
          </a:xfrm>
          <a:prstGeom prst="roundRect">
            <a:avLst>
              <a:gd name="adj" fmla="val 1818"/>
            </a:avLst>
          </a:prstGeom>
          <a:solidFill>
            <a:srgbClr val="F6F2EC"/>
          </a:solidFill>
          <a:ln w="12700">
            <a:solidFill>
              <a:srgbClr val="E7E2DA"/>
            </a:solidFill>
            <a:prstDash val="solid"/>
          </a:ln>
        </p:spPr>
      </p:sp>
      <p:sp>
        <p:nvSpPr>
          <p:cNvPr id="16" name="Text 14"/>
          <p:cNvSpPr/>
          <p:nvPr/>
        </p:nvSpPr>
        <p:spPr>
          <a:xfrm>
            <a:off x="5806440" y="1572768"/>
            <a:ext cx="2651760" cy="274320"/>
          </a:xfrm>
          <a:prstGeom prst="rect">
            <a:avLst/>
          </a:prstGeom>
          <a:noFill/>
          <a:ln/>
        </p:spPr>
        <p:txBody>
          <a:bodyPr wrap="square" lIns="0" tIns="0" rIns="0" bIns="0" rtlCol="0" anchor="ctr"/>
          <a:lstStyle/>
          <a:p>
            <a:pPr indent="0" marL="0">
              <a:buNone/>
            </a:pPr>
            <a:r>
              <a:rPr lang="en-US" sz="1200" b="1" spc="100" kern="0" dirty="0">
                <a:solidFill>
                  <a:srgbClr val="E2711D"/>
                </a:solidFill>
                <a:latin typeface="Trebuchet MS" pitchFamily="34" charset="0"/>
                <a:ea typeface="Trebuchet MS" pitchFamily="34" charset="-122"/>
                <a:cs typeface="Trebuchet MS" pitchFamily="34" charset="-120"/>
              </a:rPr>
              <a:t>STACK TÉCNICO</a:t>
            </a:r>
            <a:endParaRPr lang="en-US" sz="1200" dirty="0"/>
          </a:p>
        </p:txBody>
      </p:sp>
      <p:sp>
        <p:nvSpPr>
          <p:cNvPr id="17" name="Shape 15"/>
          <p:cNvSpPr/>
          <p:nvPr/>
        </p:nvSpPr>
        <p:spPr>
          <a:xfrm>
            <a:off x="5852160" y="1993392"/>
            <a:ext cx="384048" cy="38404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8" name="Image 0" descr="preencoded.png">    </p:cNvPr>
          <p:cNvPicPr>
            <a:picLocks noChangeAspect="1"/>
          </p:cNvPicPr>
          <p:nvPr/>
        </p:nvPicPr>
        <p:blipFill>
          <a:blip r:embed="rId1"/>
          <a:stretch>
            <a:fillRect/>
          </a:stretch>
        </p:blipFill>
        <p:spPr>
          <a:xfrm>
            <a:off x="5944332" y="2085564"/>
            <a:ext cx="199705" cy="199705"/>
          </a:xfrm>
          <a:prstGeom prst="rect">
            <a:avLst/>
          </a:prstGeom>
        </p:spPr>
      </p:pic>
      <p:sp>
        <p:nvSpPr>
          <p:cNvPr id="19" name="Text 16"/>
          <p:cNvSpPr/>
          <p:nvPr/>
        </p:nvSpPr>
        <p:spPr>
          <a:xfrm>
            <a:off x="6355080" y="1956816"/>
            <a:ext cx="2194560" cy="457200"/>
          </a:xfrm>
          <a:prstGeom prst="rect">
            <a:avLst/>
          </a:prstGeom>
          <a:noFill/>
          <a:ln/>
        </p:spPr>
        <p:txBody>
          <a:bodyPr wrap="square" lIns="0" tIns="0" rIns="0" bIns="0" rtlCol="0" anchor="ctr"/>
          <a:lstStyle/>
          <a:p>
            <a:pPr indent="0" marL="0">
              <a:buNone/>
            </a:pPr>
            <a:r>
              <a:rPr lang="en-US" sz="1250" dirty="0">
                <a:solidFill>
                  <a:srgbClr val="1F1F23"/>
                </a:solidFill>
                <a:latin typeface="Calibri" pitchFamily="34" charset="0"/>
                <a:ea typeface="Calibri" pitchFamily="34" charset="-122"/>
                <a:cs typeface="Calibri" pitchFamily="34" charset="-120"/>
              </a:rPr>
              <a:t>Flutter 3 / Dart</a:t>
            </a:r>
            <a:endParaRPr lang="en-US" sz="1250" dirty="0"/>
          </a:p>
        </p:txBody>
      </p:sp>
      <p:sp>
        <p:nvSpPr>
          <p:cNvPr id="20" name="Shape 17"/>
          <p:cNvSpPr/>
          <p:nvPr/>
        </p:nvSpPr>
        <p:spPr>
          <a:xfrm>
            <a:off x="5852160" y="2450592"/>
            <a:ext cx="384048" cy="38404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21" name="Image 1" descr="preencoded.png">    </p:cNvPr>
          <p:cNvPicPr>
            <a:picLocks noChangeAspect="1"/>
          </p:cNvPicPr>
          <p:nvPr/>
        </p:nvPicPr>
        <p:blipFill>
          <a:blip r:embed="rId2"/>
          <a:stretch>
            <a:fillRect/>
          </a:stretch>
        </p:blipFill>
        <p:spPr>
          <a:xfrm>
            <a:off x="5944332" y="2542764"/>
            <a:ext cx="199705" cy="199705"/>
          </a:xfrm>
          <a:prstGeom prst="rect">
            <a:avLst/>
          </a:prstGeom>
        </p:spPr>
      </p:pic>
      <p:sp>
        <p:nvSpPr>
          <p:cNvPr id="22" name="Text 18"/>
          <p:cNvSpPr/>
          <p:nvPr/>
        </p:nvSpPr>
        <p:spPr>
          <a:xfrm>
            <a:off x="6355080" y="2414016"/>
            <a:ext cx="2194560" cy="457200"/>
          </a:xfrm>
          <a:prstGeom prst="rect">
            <a:avLst/>
          </a:prstGeom>
          <a:noFill/>
          <a:ln/>
        </p:spPr>
        <p:txBody>
          <a:bodyPr wrap="square" lIns="0" tIns="0" rIns="0" bIns="0" rtlCol="0" anchor="ctr"/>
          <a:lstStyle/>
          <a:p>
            <a:pPr indent="0" marL="0">
              <a:buNone/>
            </a:pPr>
            <a:r>
              <a:rPr lang="en-US" sz="1250" dirty="0">
                <a:solidFill>
                  <a:srgbClr val="1F1F23"/>
                </a:solidFill>
                <a:latin typeface="Calibri" pitchFamily="34" charset="0"/>
                <a:ea typeface="Calibri" pitchFamily="34" charset="-122"/>
                <a:cs typeface="Calibri" pitchFamily="34" charset="-120"/>
              </a:rPr>
              <a:t>Riverpod · go_router</a:t>
            </a:r>
            <a:endParaRPr lang="en-US" sz="1250" dirty="0"/>
          </a:p>
        </p:txBody>
      </p:sp>
      <p:sp>
        <p:nvSpPr>
          <p:cNvPr id="23" name="Shape 19"/>
          <p:cNvSpPr/>
          <p:nvPr/>
        </p:nvSpPr>
        <p:spPr>
          <a:xfrm>
            <a:off x="5852160" y="2907792"/>
            <a:ext cx="384048" cy="38404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24" name="Image 2" descr="preencoded.png">    </p:cNvPr>
          <p:cNvPicPr>
            <a:picLocks noChangeAspect="1"/>
          </p:cNvPicPr>
          <p:nvPr/>
        </p:nvPicPr>
        <p:blipFill>
          <a:blip r:embed="rId3"/>
          <a:stretch>
            <a:fillRect/>
          </a:stretch>
        </p:blipFill>
        <p:spPr>
          <a:xfrm>
            <a:off x="5944332" y="2999964"/>
            <a:ext cx="199705" cy="199705"/>
          </a:xfrm>
          <a:prstGeom prst="rect">
            <a:avLst/>
          </a:prstGeom>
        </p:spPr>
      </p:pic>
      <p:sp>
        <p:nvSpPr>
          <p:cNvPr id="25" name="Text 20"/>
          <p:cNvSpPr/>
          <p:nvPr/>
        </p:nvSpPr>
        <p:spPr>
          <a:xfrm>
            <a:off x="6355080" y="2871216"/>
            <a:ext cx="2194560" cy="457200"/>
          </a:xfrm>
          <a:prstGeom prst="rect">
            <a:avLst/>
          </a:prstGeom>
          <a:noFill/>
          <a:ln/>
        </p:spPr>
        <p:txBody>
          <a:bodyPr wrap="square" lIns="0" tIns="0" rIns="0" bIns="0" rtlCol="0" anchor="ctr"/>
          <a:lstStyle/>
          <a:p>
            <a:pPr indent="0" marL="0">
              <a:buNone/>
            </a:pPr>
            <a:r>
              <a:rPr lang="en-US" sz="1250" dirty="0">
                <a:solidFill>
                  <a:srgbClr val="1F1F23"/>
                </a:solidFill>
                <a:latin typeface="Calibri" pitchFamily="34" charset="0"/>
                <a:ea typeface="Calibri" pitchFamily="34" charset="-122"/>
                <a:cs typeface="Calibri" pitchFamily="34" charset="-120"/>
              </a:rPr>
              <a:t>Supabase (PostgreSQL)</a:t>
            </a:r>
            <a:endParaRPr lang="en-US" sz="1250" dirty="0"/>
          </a:p>
        </p:txBody>
      </p:sp>
      <p:sp>
        <p:nvSpPr>
          <p:cNvPr id="26" name="Shape 21"/>
          <p:cNvSpPr/>
          <p:nvPr/>
        </p:nvSpPr>
        <p:spPr>
          <a:xfrm>
            <a:off x="5852160" y="3364992"/>
            <a:ext cx="384048" cy="38404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27" name="Image 3" descr="preencoded.png">    </p:cNvPr>
          <p:cNvPicPr>
            <a:picLocks noChangeAspect="1"/>
          </p:cNvPicPr>
          <p:nvPr/>
        </p:nvPicPr>
        <p:blipFill>
          <a:blip r:embed="rId4"/>
          <a:stretch>
            <a:fillRect/>
          </a:stretch>
        </p:blipFill>
        <p:spPr>
          <a:xfrm>
            <a:off x="5944332" y="3457164"/>
            <a:ext cx="199705" cy="199705"/>
          </a:xfrm>
          <a:prstGeom prst="rect">
            <a:avLst/>
          </a:prstGeom>
        </p:spPr>
      </p:pic>
      <p:sp>
        <p:nvSpPr>
          <p:cNvPr id="28" name="Text 22"/>
          <p:cNvSpPr/>
          <p:nvPr/>
        </p:nvSpPr>
        <p:spPr>
          <a:xfrm>
            <a:off x="6355080" y="3328416"/>
            <a:ext cx="2194560" cy="457200"/>
          </a:xfrm>
          <a:prstGeom prst="rect">
            <a:avLst/>
          </a:prstGeom>
          <a:noFill/>
          <a:ln/>
        </p:spPr>
        <p:txBody>
          <a:bodyPr wrap="square" lIns="0" tIns="0" rIns="0" bIns="0" rtlCol="0" anchor="ctr"/>
          <a:lstStyle/>
          <a:p>
            <a:pPr indent="0" marL="0">
              <a:buNone/>
            </a:pPr>
            <a:r>
              <a:rPr lang="en-US" sz="1250" dirty="0">
                <a:solidFill>
                  <a:srgbClr val="1F1F23"/>
                </a:solidFill>
                <a:latin typeface="Calibri" pitchFamily="34" charset="0"/>
                <a:ea typeface="Calibri" pitchFamily="34" charset="-122"/>
                <a:cs typeface="Calibri" pitchFamily="34" charset="-120"/>
              </a:rPr>
              <a:t>Firebase Cloud Messaging</a:t>
            </a:r>
            <a:endParaRPr lang="en-US" sz="1250" dirty="0"/>
          </a:p>
        </p:txBody>
      </p:sp>
      <p:sp>
        <p:nvSpPr>
          <p:cNvPr id="29" name="Shape 23"/>
          <p:cNvSpPr/>
          <p:nvPr/>
        </p:nvSpPr>
        <p:spPr>
          <a:xfrm>
            <a:off x="5852160" y="3822192"/>
            <a:ext cx="384048" cy="38404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30" name="Image 4" descr="preencoded.png">    </p:cNvPr>
          <p:cNvPicPr>
            <a:picLocks noChangeAspect="1"/>
          </p:cNvPicPr>
          <p:nvPr/>
        </p:nvPicPr>
        <p:blipFill>
          <a:blip r:embed="rId5"/>
          <a:stretch>
            <a:fillRect/>
          </a:stretch>
        </p:blipFill>
        <p:spPr>
          <a:xfrm>
            <a:off x="5944332" y="3914364"/>
            <a:ext cx="199705" cy="199705"/>
          </a:xfrm>
          <a:prstGeom prst="rect">
            <a:avLst/>
          </a:prstGeom>
        </p:spPr>
      </p:pic>
      <p:sp>
        <p:nvSpPr>
          <p:cNvPr id="31" name="Text 24"/>
          <p:cNvSpPr/>
          <p:nvPr/>
        </p:nvSpPr>
        <p:spPr>
          <a:xfrm>
            <a:off x="6355080" y="3785616"/>
            <a:ext cx="2194560" cy="457200"/>
          </a:xfrm>
          <a:prstGeom prst="rect">
            <a:avLst/>
          </a:prstGeom>
          <a:noFill/>
          <a:ln/>
        </p:spPr>
        <p:txBody>
          <a:bodyPr wrap="square" lIns="0" tIns="0" rIns="0" bIns="0" rtlCol="0" anchor="ctr"/>
          <a:lstStyle/>
          <a:p>
            <a:pPr indent="0" marL="0">
              <a:buNone/>
            </a:pPr>
            <a:r>
              <a:rPr lang="en-US" sz="1250" dirty="0">
                <a:solidFill>
                  <a:srgbClr val="1F1F23"/>
                </a:solidFill>
                <a:latin typeface="Calibri" pitchFamily="34" charset="0"/>
                <a:ea typeface="Calibri" pitchFamily="34" charset="-122"/>
                <a:cs typeface="Calibri" pitchFamily="34" charset="-120"/>
              </a:rPr>
              <a:t>Cloudinary (imágenes)</a:t>
            </a:r>
            <a:endParaRPr lang="en-US" sz="1250" dirty="0"/>
          </a:p>
        </p:txBody>
      </p:sp>
      <p:sp>
        <p:nvSpPr>
          <p:cNvPr id="32" name="Shape 25"/>
          <p:cNvSpPr/>
          <p:nvPr/>
        </p:nvSpPr>
        <p:spPr>
          <a:xfrm>
            <a:off x="5852160" y="4279392"/>
            <a:ext cx="384048" cy="38404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33" name="Image 5" descr="preencoded.png">    </p:cNvPr>
          <p:cNvPicPr>
            <a:picLocks noChangeAspect="1"/>
          </p:cNvPicPr>
          <p:nvPr/>
        </p:nvPicPr>
        <p:blipFill>
          <a:blip r:embed="rId6"/>
          <a:stretch>
            <a:fillRect/>
          </a:stretch>
        </p:blipFill>
        <p:spPr>
          <a:xfrm>
            <a:off x="5944332" y="4371564"/>
            <a:ext cx="199705" cy="199705"/>
          </a:xfrm>
          <a:prstGeom prst="rect">
            <a:avLst/>
          </a:prstGeom>
        </p:spPr>
      </p:pic>
      <p:sp>
        <p:nvSpPr>
          <p:cNvPr id="34" name="Text 26"/>
          <p:cNvSpPr/>
          <p:nvPr/>
        </p:nvSpPr>
        <p:spPr>
          <a:xfrm>
            <a:off x="6355080" y="4242816"/>
            <a:ext cx="2194560" cy="457200"/>
          </a:xfrm>
          <a:prstGeom prst="rect">
            <a:avLst/>
          </a:prstGeom>
          <a:noFill/>
          <a:ln/>
        </p:spPr>
        <p:txBody>
          <a:bodyPr wrap="square" lIns="0" tIns="0" rIns="0" bIns="0" rtlCol="0" anchor="ctr"/>
          <a:lstStyle/>
          <a:p>
            <a:pPr indent="0" marL="0">
              <a:buNone/>
            </a:pPr>
            <a:r>
              <a:rPr lang="en-US" sz="1250" dirty="0">
                <a:solidFill>
                  <a:srgbClr val="1F1F23"/>
                </a:solidFill>
                <a:latin typeface="Calibri" pitchFamily="34" charset="0"/>
                <a:ea typeface="Calibri" pitchFamily="34" charset="-122"/>
                <a:cs typeface="Calibri" pitchFamily="34" charset="-120"/>
              </a:rPr>
              <a:t>Firebase Hosting (PWA)</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04 · DATOS</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Modelo de datos y seguridad</a:t>
            </a:r>
            <a:endParaRPr lang="en-US" sz="2600" dirty="0"/>
          </a:p>
        </p:txBody>
      </p:sp>
      <p:sp>
        <p:nvSpPr>
          <p:cNvPr id="5" name="Shape 3"/>
          <p:cNvSpPr/>
          <p:nvPr/>
        </p:nvSpPr>
        <p:spPr>
          <a:xfrm>
            <a:off x="548640" y="1463040"/>
            <a:ext cx="2331720" cy="3108960"/>
          </a:xfrm>
          <a:prstGeom prst="roundRect">
            <a:avLst>
              <a:gd name="adj" fmla="val 2353"/>
            </a:avLst>
          </a:prstGeom>
          <a:solidFill>
            <a:srgbClr val="17171A"/>
          </a:solidFill>
          <a:ln/>
        </p:spPr>
      </p:sp>
      <p:sp>
        <p:nvSpPr>
          <p:cNvPr id="6" name="Text 4"/>
          <p:cNvSpPr/>
          <p:nvPr/>
        </p:nvSpPr>
        <p:spPr>
          <a:xfrm>
            <a:off x="548640" y="1691640"/>
            <a:ext cx="2331720" cy="1005840"/>
          </a:xfrm>
          <a:prstGeom prst="rect">
            <a:avLst/>
          </a:prstGeom>
          <a:noFill/>
          <a:ln/>
        </p:spPr>
        <p:txBody>
          <a:bodyPr wrap="square" lIns="0" tIns="0" rIns="0" bIns="0" rtlCol="0" anchor="ctr"/>
          <a:lstStyle/>
          <a:p>
            <a:pPr algn="ctr" indent="0" marL="0">
              <a:buNone/>
            </a:pPr>
            <a:r>
              <a:rPr lang="en-US" sz="6000" dirty="0">
                <a:solidFill>
                  <a:srgbClr val="E2711D"/>
                </a:solidFill>
                <a:latin typeface="Arial Black" pitchFamily="34" charset="0"/>
                <a:ea typeface="Arial Black" pitchFamily="34" charset="-122"/>
                <a:cs typeface="Arial Black" pitchFamily="34" charset="-120"/>
              </a:rPr>
              <a:t>20</a:t>
            </a:r>
            <a:endParaRPr lang="en-US" sz="6000" dirty="0"/>
          </a:p>
        </p:txBody>
      </p:sp>
      <p:sp>
        <p:nvSpPr>
          <p:cNvPr id="7" name="Text 5"/>
          <p:cNvSpPr/>
          <p:nvPr/>
        </p:nvSpPr>
        <p:spPr>
          <a:xfrm>
            <a:off x="640080" y="2743200"/>
            <a:ext cx="21488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tablas en PostgreSQL</a:t>
            </a:r>
            <a:endParaRPr lang="en-US" sz="1400" dirty="0"/>
          </a:p>
        </p:txBody>
      </p:sp>
      <p:sp>
        <p:nvSpPr>
          <p:cNvPr id="8" name="Text 6"/>
          <p:cNvSpPr/>
          <p:nvPr/>
        </p:nvSpPr>
        <p:spPr>
          <a:xfrm>
            <a:off x="685800" y="3200400"/>
            <a:ext cx="2057400" cy="1280160"/>
          </a:xfrm>
          <a:prstGeom prst="rect">
            <a:avLst/>
          </a:prstGeom>
          <a:noFill/>
          <a:ln/>
        </p:spPr>
        <p:txBody>
          <a:bodyPr wrap="square" lIns="0" tIns="0" rIns="0" bIns="0" rtlCol="0" anchor="t"/>
          <a:lstStyle/>
          <a:p>
            <a:pPr algn="ctr" indent="0" marL="0">
              <a:buNone/>
            </a:pPr>
            <a:r>
              <a:rPr lang="en-US" sz="1150" dirty="0">
                <a:solidFill>
                  <a:srgbClr val="C9C4BC"/>
                </a:solidFill>
                <a:latin typeface="Calibri" pitchFamily="34" charset="0"/>
                <a:ea typeface="Calibri" pitchFamily="34" charset="-122"/>
                <a:cs typeface="Calibri" pitchFamily="34" charset="-120"/>
              </a:rPr>
              <a:t>Modelo relacional normalizado: usuarios, equipos, competiciones, partidos, veladas, estadísticas…</a:t>
            </a:r>
            <a:endParaRPr lang="en-US" sz="1150" dirty="0"/>
          </a:p>
        </p:txBody>
      </p:sp>
      <p:sp>
        <p:nvSpPr>
          <p:cNvPr id="9" name="Shape 7"/>
          <p:cNvSpPr/>
          <p:nvPr/>
        </p:nvSpPr>
        <p:spPr>
          <a:xfrm>
            <a:off x="3108960" y="1463040"/>
            <a:ext cx="5486400" cy="960120"/>
          </a:xfrm>
          <a:prstGeom prst="roundRect">
            <a:avLst>
              <a:gd name="adj" fmla="val 5714"/>
            </a:avLst>
          </a:prstGeom>
          <a:solidFill>
            <a:srgbClr val="F6F2EC"/>
          </a:solidFill>
          <a:ln w="12700">
            <a:solidFill>
              <a:srgbClr val="E7E2DA"/>
            </a:solidFill>
            <a:prstDash val="solid"/>
          </a:ln>
        </p:spPr>
      </p:sp>
      <p:sp>
        <p:nvSpPr>
          <p:cNvPr id="10" name="Shape 8"/>
          <p:cNvSpPr/>
          <p:nvPr/>
        </p:nvSpPr>
        <p:spPr>
          <a:xfrm>
            <a:off x="3310128" y="166878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1" name="Image 0" descr="preencoded.png">    </p:cNvPr>
          <p:cNvPicPr>
            <a:picLocks noChangeAspect="1"/>
          </p:cNvPicPr>
          <p:nvPr/>
        </p:nvPicPr>
        <p:blipFill>
          <a:blip r:embed="rId1"/>
          <a:stretch>
            <a:fillRect/>
          </a:stretch>
        </p:blipFill>
        <p:spPr>
          <a:xfrm>
            <a:off x="3441802" y="1800454"/>
            <a:ext cx="285293" cy="285293"/>
          </a:xfrm>
          <a:prstGeom prst="rect">
            <a:avLst/>
          </a:prstGeom>
        </p:spPr>
      </p:pic>
      <p:sp>
        <p:nvSpPr>
          <p:cNvPr id="12" name="Text 9"/>
          <p:cNvSpPr/>
          <p:nvPr/>
        </p:nvSpPr>
        <p:spPr>
          <a:xfrm>
            <a:off x="4069080" y="1591056"/>
            <a:ext cx="4389120" cy="320040"/>
          </a:xfrm>
          <a:prstGeom prst="rect">
            <a:avLst/>
          </a:prstGeom>
          <a:noFill/>
          <a:ln/>
        </p:spPr>
        <p:txBody>
          <a:bodyPr wrap="square" lIns="0" tIns="0" rIns="0" bIns="0" rtlCol="0" anchor="ctr"/>
          <a:lstStyle/>
          <a:p>
            <a:pPr indent="0" marL="0">
              <a:buNone/>
            </a:pPr>
            <a:r>
              <a:rPr lang="en-US" sz="1400" b="1" dirty="0">
                <a:solidFill>
                  <a:srgbClr val="1F1F23"/>
                </a:solidFill>
                <a:latin typeface="Trebuchet MS" pitchFamily="34" charset="0"/>
                <a:ea typeface="Trebuchet MS" pitchFamily="34" charset="-122"/>
                <a:cs typeface="Trebuchet MS" pitchFamily="34" charset="-120"/>
              </a:rPr>
              <a:t>Seis roles</a:t>
            </a:r>
            <a:endParaRPr lang="en-US" sz="1400" dirty="0"/>
          </a:p>
        </p:txBody>
      </p:sp>
      <p:sp>
        <p:nvSpPr>
          <p:cNvPr id="13" name="Text 10"/>
          <p:cNvSpPr/>
          <p:nvPr/>
        </p:nvSpPr>
        <p:spPr>
          <a:xfrm>
            <a:off x="4069080" y="1920240"/>
            <a:ext cx="4389120" cy="45720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Administrador, entrenador, jugador, jugador premium, familiar y visitante.</a:t>
            </a:r>
            <a:endParaRPr lang="en-US" sz="1150" dirty="0"/>
          </a:p>
        </p:txBody>
      </p:sp>
      <p:sp>
        <p:nvSpPr>
          <p:cNvPr id="14" name="Shape 11"/>
          <p:cNvSpPr/>
          <p:nvPr/>
        </p:nvSpPr>
        <p:spPr>
          <a:xfrm>
            <a:off x="3108960" y="2542032"/>
            <a:ext cx="5486400" cy="960120"/>
          </a:xfrm>
          <a:prstGeom prst="roundRect">
            <a:avLst>
              <a:gd name="adj" fmla="val 5714"/>
            </a:avLst>
          </a:prstGeom>
          <a:solidFill>
            <a:srgbClr val="F6F2EC"/>
          </a:solidFill>
          <a:ln w="12700">
            <a:solidFill>
              <a:srgbClr val="E7E2DA"/>
            </a:solidFill>
            <a:prstDash val="solid"/>
          </a:ln>
        </p:spPr>
      </p:sp>
      <p:sp>
        <p:nvSpPr>
          <p:cNvPr id="15" name="Shape 12"/>
          <p:cNvSpPr/>
          <p:nvPr/>
        </p:nvSpPr>
        <p:spPr>
          <a:xfrm>
            <a:off x="3310128" y="2747772"/>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6" name="Image 1" descr="preencoded.png">    </p:cNvPr>
          <p:cNvPicPr>
            <a:picLocks noChangeAspect="1"/>
          </p:cNvPicPr>
          <p:nvPr/>
        </p:nvPicPr>
        <p:blipFill>
          <a:blip r:embed="rId2"/>
          <a:stretch>
            <a:fillRect/>
          </a:stretch>
        </p:blipFill>
        <p:spPr>
          <a:xfrm>
            <a:off x="3441802" y="2879446"/>
            <a:ext cx="285293" cy="285293"/>
          </a:xfrm>
          <a:prstGeom prst="rect">
            <a:avLst/>
          </a:prstGeom>
        </p:spPr>
      </p:pic>
      <p:sp>
        <p:nvSpPr>
          <p:cNvPr id="17" name="Text 13"/>
          <p:cNvSpPr/>
          <p:nvPr/>
        </p:nvSpPr>
        <p:spPr>
          <a:xfrm>
            <a:off x="4069080" y="2670048"/>
            <a:ext cx="4389120" cy="320040"/>
          </a:xfrm>
          <a:prstGeom prst="rect">
            <a:avLst/>
          </a:prstGeom>
          <a:noFill/>
          <a:ln/>
        </p:spPr>
        <p:txBody>
          <a:bodyPr wrap="square" lIns="0" tIns="0" rIns="0" bIns="0" rtlCol="0" anchor="ctr"/>
          <a:lstStyle/>
          <a:p>
            <a:pPr indent="0" marL="0">
              <a:buNone/>
            </a:pPr>
            <a:r>
              <a:rPr lang="en-US" sz="1400" b="1" dirty="0">
                <a:solidFill>
                  <a:srgbClr val="1F1F23"/>
                </a:solidFill>
                <a:latin typeface="Trebuchet MS" pitchFamily="34" charset="0"/>
                <a:ea typeface="Trebuchet MS" pitchFamily="34" charset="-122"/>
                <a:cs typeface="Trebuchet MS" pitchFamily="34" charset="-120"/>
              </a:rPr>
              <a:t>Row Level Security</a:t>
            </a:r>
            <a:endParaRPr lang="en-US" sz="1400" dirty="0"/>
          </a:p>
        </p:txBody>
      </p:sp>
      <p:sp>
        <p:nvSpPr>
          <p:cNvPr id="18" name="Text 14"/>
          <p:cNvSpPr/>
          <p:nvPr/>
        </p:nvSpPr>
        <p:spPr>
          <a:xfrm>
            <a:off x="4069080" y="2999232"/>
            <a:ext cx="4389120" cy="45720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Políticas en la base de datos: cada rol solo ve y edita lo que le corresponde.</a:t>
            </a:r>
            <a:endParaRPr lang="en-US" sz="1150" dirty="0"/>
          </a:p>
        </p:txBody>
      </p:sp>
      <p:sp>
        <p:nvSpPr>
          <p:cNvPr id="19" name="Shape 15"/>
          <p:cNvSpPr/>
          <p:nvPr/>
        </p:nvSpPr>
        <p:spPr>
          <a:xfrm>
            <a:off x="3108960" y="3621024"/>
            <a:ext cx="5486400" cy="960120"/>
          </a:xfrm>
          <a:prstGeom prst="roundRect">
            <a:avLst>
              <a:gd name="adj" fmla="val 5714"/>
            </a:avLst>
          </a:prstGeom>
          <a:solidFill>
            <a:srgbClr val="F6F2EC"/>
          </a:solidFill>
          <a:ln w="12700">
            <a:solidFill>
              <a:srgbClr val="E7E2DA"/>
            </a:solidFill>
            <a:prstDash val="solid"/>
          </a:ln>
        </p:spPr>
      </p:sp>
      <p:sp>
        <p:nvSpPr>
          <p:cNvPr id="20" name="Shape 16"/>
          <p:cNvSpPr/>
          <p:nvPr/>
        </p:nvSpPr>
        <p:spPr>
          <a:xfrm>
            <a:off x="3310128" y="3826764"/>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21" name="Image 2" descr="preencoded.png">    </p:cNvPr>
          <p:cNvPicPr>
            <a:picLocks noChangeAspect="1"/>
          </p:cNvPicPr>
          <p:nvPr/>
        </p:nvPicPr>
        <p:blipFill>
          <a:blip r:embed="rId3"/>
          <a:stretch>
            <a:fillRect/>
          </a:stretch>
        </p:blipFill>
        <p:spPr>
          <a:xfrm>
            <a:off x="3441802" y="3958438"/>
            <a:ext cx="285293" cy="285293"/>
          </a:xfrm>
          <a:prstGeom prst="rect">
            <a:avLst/>
          </a:prstGeom>
        </p:spPr>
      </p:pic>
      <p:sp>
        <p:nvSpPr>
          <p:cNvPr id="22" name="Text 17"/>
          <p:cNvSpPr/>
          <p:nvPr/>
        </p:nvSpPr>
        <p:spPr>
          <a:xfrm>
            <a:off x="4069080" y="3749040"/>
            <a:ext cx="4389120" cy="320040"/>
          </a:xfrm>
          <a:prstGeom prst="rect">
            <a:avLst/>
          </a:prstGeom>
          <a:noFill/>
          <a:ln/>
        </p:spPr>
        <p:txBody>
          <a:bodyPr wrap="square" lIns="0" tIns="0" rIns="0" bIns="0" rtlCol="0" anchor="ctr"/>
          <a:lstStyle/>
          <a:p>
            <a:pPr indent="0" marL="0">
              <a:buNone/>
            </a:pPr>
            <a:r>
              <a:rPr lang="en-US" sz="1400" b="1" dirty="0">
                <a:solidFill>
                  <a:srgbClr val="1F1F23"/>
                </a:solidFill>
                <a:latin typeface="Trebuchet MS" pitchFamily="34" charset="0"/>
                <a:ea typeface="Trebuchet MS" pitchFamily="34" charset="-122"/>
                <a:cs typeface="Trebuchet MS" pitchFamily="34" charset="-120"/>
              </a:rPr>
              <a:t>Autenticación Supabase</a:t>
            </a:r>
            <a:endParaRPr lang="en-US" sz="1400" dirty="0"/>
          </a:p>
        </p:txBody>
      </p:sp>
      <p:sp>
        <p:nvSpPr>
          <p:cNvPr id="23" name="Text 18"/>
          <p:cNvSpPr/>
          <p:nvPr/>
        </p:nvSpPr>
        <p:spPr>
          <a:xfrm>
            <a:off x="4069080" y="4078224"/>
            <a:ext cx="4389120" cy="45720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Registro e inicio de sesión gestionados con tokens y trigger de alta automática.</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04 · VISIÓN GENERAL</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Funcionalidades principales</a:t>
            </a:r>
            <a:endParaRPr lang="en-US" sz="2600" dirty="0"/>
          </a:p>
        </p:txBody>
      </p:sp>
      <p:sp>
        <p:nvSpPr>
          <p:cNvPr id="5" name="Shape 3"/>
          <p:cNvSpPr/>
          <p:nvPr/>
        </p:nvSpPr>
        <p:spPr>
          <a:xfrm>
            <a:off x="548640" y="1554480"/>
            <a:ext cx="2011680" cy="1417320"/>
          </a:xfrm>
          <a:prstGeom prst="roundRect">
            <a:avLst>
              <a:gd name="adj" fmla="val 4516"/>
            </a:avLst>
          </a:prstGeom>
          <a:solidFill>
            <a:srgbClr val="F6F2EC"/>
          </a:solidFill>
          <a:ln w="12700">
            <a:solidFill>
              <a:srgbClr val="E7E2DA"/>
            </a:solidFill>
            <a:prstDash val="solid"/>
          </a:ln>
        </p:spPr>
      </p:sp>
      <p:sp>
        <p:nvSpPr>
          <p:cNvPr id="6" name="Shape 4"/>
          <p:cNvSpPr/>
          <p:nvPr/>
        </p:nvSpPr>
        <p:spPr>
          <a:xfrm>
            <a:off x="1225296" y="1810512"/>
            <a:ext cx="658368" cy="65836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1383304" y="1968520"/>
            <a:ext cx="342351" cy="342351"/>
          </a:xfrm>
          <a:prstGeom prst="rect">
            <a:avLst/>
          </a:prstGeom>
        </p:spPr>
      </p:pic>
      <p:sp>
        <p:nvSpPr>
          <p:cNvPr id="8" name="Text 5"/>
          <p:cNvSpPr/>
          <p:nvPr/>
        </p:nvSpPr>
        <p:spPr>
          <a:xfrm>
            <a:off x="640080" y="2523744"/>
            <a:ext cx="1828800" cy="384048"/>
          </a:xfrm>
          <a:prstGeom prst="rect">
            <a:avLst/>
          </a:prstGeom>
          <a:noFill/>
          <a:ln/>
        </p:spPr>
        <p:txBody>
          <a:bodyPr wrap="square" lIns="0" tIns="0" rIns="0" bIns="0" rtlCol="0" anchor="ctr"/>
          <a:lstStyle/>
          <a:p>
            <a:pPr algn="ctr" indent="0" marL="0">
              <a:buNone/>
            </a:pPr>
            <a:r>
              <a:rPr lang="en-US" sz="1250" b="1" dirty="0">
                <a:solidFill>
                  <a:srgbClr val="1F1F23"/>
                </a:solidFill>
                <a:latin typeface="Trebuchet MS" pitchFamily="34" charset="0"/>
                <a:ea typeface="Trebuchet MS" pitchFamily="34" charset="-122"/>
                <a:cs typeface="Trebuchet MS" pitchFamily="34" charset="-120"/>
              </a:rPr>
              <a:t>Equipos y usuarios</a:t>
            </a:r>
            <a:endParaRPr lang="en-US" sz="1250" dirty="0"/>
          </a:p>
        </p:txBody>
      </p:sp>
      <p:sp>
        <p:nvSpPr>
          <p:cNvPr id="9" name="Shape 6"/>
          <p:cNvSpPr/>
          <p:nvPr/>
        </p:nvSpPr>
        <p:spPr>
          <a:xfrm>
            <a:off x="2724912" y="1554480"/>
            <a:ext cx="2011680" cy="1417320"/>
          </a:xfrm>
          <a:prstGeom prst="roundRect">
            <a:avLst>
              <a:gd name="adj" fmla="val 4516"/>
            </a:avLst>
          </a:prstGeom>
          <a:solidFill>
            <a:srgbClr val="F6F2EC"/>
          </a:solidFill>
          <a:ln w="12700">
            <a:solidFill>
              <a:srgbClr val="E7E2DA"/>
            </a:solidFill>
            <a:prstDash val="solid"/>
          </a:ln>
        </p:spPr>
      </p:sp>
      <p:sp>
        <p:nvSpPr>
          <p:cNvPr id="10" name="Shape 7"/>
          <p:cNvSpPr/>
          <p:nvPr/>
        </p:nvSpPr>
        <p:spPr>
          <a:xfrm>
            <a:off x="3401568" y="1810512"/>
            <a:ext cx="658368" cy="65836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1" name="Image 1" descr="preencoded.png">    </p:cNvPr>
          <p:cNvPicPr>
            <a:picLocks noChangeAspect="1"/>
          </p:cNvPicPr>
          <p:nvPr/>
        </p:nvPicPr>
        <p:blipFill>
          <a:blip r:embed="rId2"/>
          <a:stretch>
            <a:fillRect/>
          </a:stretch>
        </p:blipFill>
        <p:spPr>
          <a:xfrm>
            <a:off x="3559576" y="1968520"/>
            <a:ext cx="342351" cy="342351"/>
          </a:xfrm>
          <a:prstGeom prst="rect">
            <a:avLst/>
          </a:prstGeom>
        </p:spPr>
      </p:pic>
      <p:sp>
        <p:nvSpPr>
          <p:cNvPr id="12" name="Text 8"/>
          <p:cNvSpPr/>
          <p:nvPr/>
        </p:nvSpPr>
        <p:spPr>
          <a:xfrm>
            <a:off x="2816352" y="2523744"/>
            <a:ext cx="1828800" cy="384048"/>
          </a:xfrm>
          <a:prstGeom prst="rect">
            <a:avLst/>
          </a:prstGeom>
          <a:noFill/>
          <a:ln/>
        </p:spPr>
        <p:txBody>
          <a:bodyPr wrap="square" lIns="0" tIns="0" rIns="0" bIns="0" rtlCol="0" anchor="ctr"/>
          <a:lstStyle/>
          <a:p>
            <a:pPr algn="ctr" indent="0" marL="0">
              <a:buNone/>
            </a:pPr>
            <a:r>
              <a:rPr lang="en-US" sz="1250" b="1" dirty="0">
                <a:solidFill>
                  <a:srgbClr val="1F1F23"/>
                </a:solidFill>
                <a:latin typeface="Trebuchet MS" pitchFamily="34" charset="0"/>
                <a:ea typeface="Trebuchet MS" pitchFamily="34" charset="-122"/>
                <a:cs typeface="Trebuchet MS" pitchFamily="34" charset="-120"/>
              </a:rPr>
              <a:t>Generación automática</a:t>
            </a:r>
            <a:endParaRPr lang="en-US" sz="1250" dirty="0"/>
          </a:p>
        </p:txBody>
      </p:sp>
      <p:sp>
        <p:nvSpPr>
          <p:cNvPr id="13" name="Shape 9"/>
          <p:cNvSpPr/>
          <p:nvPr/>
        </p:nvSpPr>
        <p:spPr>
          <a:xfrm>
            <a:off x="4901184" y="1554480"/>
            <a:ext cx="2011680" cy="1417320"/>
          </a:xfrm>
          <a:prstGeom prst="roundRect">
            <a:avLst>
              <a:gd name="adj" fmla="val 4516"/>
            </a:avLst>
          </a:prstGeom>
          <a:solidFill>
            <a:srgbClr val="F6F2EC"/>
          </a:solidFill>
          <a:ln w="12700">
            <a:solidFill>
              <a:srgbClr val="E7E2DA"/>
            </a:solidFill>
            <a:prstDash val="solid"/>
          </a:ln>
        </p:spPr>
      </p:sp>
      <p:sp>
        <p:nvSpPr>
          <p:cNvPr id="14" name="Shape 10"/>
          <p:cNvSpPr/>
          <p:nvPr/>
        </p:nvSpPr>
        <p:spPr>
          <a:xfrm>
            <a:off x="5577840" y="1810512"/>
            <a:ext cx="658368" cy="65836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5" name="Image 2" descr="preencoded.png">    </p:cNvPr>
          <p:cNvPicPr>
            <a:picLocks noChangeAspect="1"/>
          </p:cNvPicPr>
          <p:nvPr/>
        </p:nvPicPr>
        <p:blipFill>
          <a:blip r:embed="rId3"/>
          <a:stretch>
            <a:fillRect/>
          </a:stretch>
        </p:blipFill>
        <p:spPr>
          <a:xfrm>
            <a:off x="5735848" y="1968520"/>
            <a:ext cx="342351" cy="342351"/>
          </a:xfrm>
          <a:prstGeom prst="rect">
            <a:avLst/>
          </a:prstGeom>
        </p:spPr>
      </p:pic>
      <p:sp>
        <p:nvSpPr>
          <p:cNvPr id="16" name="Text 11"/>
          <p:cNvSpPr/>
          <p:nvPr/>
        </p:nvSpPr>
        <p:spPr>
          <a:xfrm>
            <a:off x="4992624" y="2523744"/>
            <a:ext cx="1828800" cy="384048"/>
          </a:xfrm>
          <a:prstGeom prst="rect">
            <a:avLst/>
          </a:prstGeom>
          <a:noFill/>
          <a:ln/>
        </p:spPr>
        <p:txBody>
          <a:bodyPr wrap="square" lIns="0" tIns="0" rIns="0" bIns="0" rtlCol="0" anchor="ctr"/>
          <a:lstStyle/>
          <a:p>
            <a:pPr algn="ctr" indent="0" marL="0">
              <a:buNone/>
            </a:pPr>
            <a:r>
              <a:rPr lang="en-US" sz="1250" b="1" dirty="0">
                <a:solidFill>
                  <a:srgbClr val="1F1F23"/>
                </a:solidFill>
                <a:latin typeface="Trebuchet MS" pitchFamily="34" charset="0"/>
                <a:ea typeface="Trebuchet MS" pitchFamily="34" charset="-122"/>
                <a:cs typeface="Trebuchet MS" pitchFamily="34" charset="-120"/>
              </a:rPr>
              <a:t>Competiciones</a:t>
            </a:r>
            <a:endParaRPr lang="en-US" sz="1250" dirty="0"/>
          </a:p>
        </p:txBody>
      </p:sp>
      <p:sp>
        <p:nvSpPr>
          <p:cNvPr id="17" name="Shape 12"/>
          <p:cNvSpPr/>
          <p:nvPr/>
        </p:nvSpPr>
        <p:spPr>
          <a:xfrm>
            <a:off x="7077456" y="1554480"/>
            <a:ext cx="2011680" cy="1417320"/>
          </a:xfrm>
          <a:prstGeom prst="roundRect">
            <a:avLst>
              <a:gd name="adj" fmla="val 4516"/>
            </a:avLst>
          </a:prstGeom>
          <a:solidFill>
            <a:srgbClr val="F6F2EC"/>
          </a:solidFill>
          <a:ln w="12700">
            <a:solidFill>
              <a:srgbClr val="E7E2DA"/>
            </a:solidFill>
            <a:prstDash val="solid"/>
          </a:ln>
        </p:spPr>
      </p:sp>
      <p:sp>
        <p:nvSpPr>
          <p:cNvPr id="18" name="Shape 13"/>
          <p:cNvSpPr/>
          <p:nvPr/>
        </p:nvSpPr>
        <p:spPr>
          <a:xfrm>
            <a:off x="7754112" y="1810512"/>
            <a:ext cx="658368" cy="65836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9" name="Image 3" descr="preencoded.png">    </p:cNvPr>
          <p:cNvPicPr>
            <a:picLocks noChangeAspect="1"/>
          </p:cNvPicPr>
          <p:nvPr/>
        </p:nvPicPr>
        <p:blipFill>
          <a:blip r:embed="rId4"/>
          <a:stretch>
            <a:fillRect/>
          </a:stretch>
        </p:blipFill>
        <p:spPr>
          <a:xfrm>
            <a:off x="7912120" y="1968520"/>
            <a:ext cx="342351" cy="342351"/>
          </a:xfrm>
          <a:prstGeom prst="rect">
            <a:avLst/>
          </a:prstGeom>
        </p:spPr>
      </p:pic>
      <p:sp>
        <p:nvSpPr>
          <p:cNvPr id="20" name="Text 14"/>
          <p:cNvSpPr/>
          <p:nvPr/>
        </p:nvSpPr>
        <p:spPr>
          <a:xfrm>
            <a:off x="7168896" y="2523744"/>
            <a:ext cx="1828800" cy="384048"/>
          </a:xfrm>
          <a:prstGeom prst="rect">
            <a:avLst/>
          </a:prstGeom>
          <a:noFill/>
          <a:ln/>
        </p:spPr>
        <p:txBody>
          <a:bodyPr wrap="square" lIns="0" tIns="0" rIns="0" bIns="0" rtlCol="0" anchor="ctr"/>
          <a:lstStyle/>
          <a:p>
            <a:pPr algn="ctr" indent="0" marL="0">
              <a:buNone/>
            </a:pPr>
            <a:r>
              <a:rPr lang="en-US" sz="1250" b="1" dirty="0">
                <a:solidFill>
                  <a:srgbClr val="1F1F23"/>
                </a:solidFill>
                <a:latin typeface="Trebuchet MS" pitchFamily="34" charset="0"/>
                <a:ea typeface="Trebuchet MS" pitchFamily="34" charset="-122"/>
                <a:cs typeface="Trebuchet MS" pitchFamily="34" charset="-120"/>
              </a:rPr>
              <a:t>Partidos en directo</a:t>
            </a:r>
            <a:endParaRPr lang="en-US" sz="1250" dirty="0"/>
          </a:p>
        </p:txBody>
      </p:sp>
      <p:sp>
        <p:nvSpPr>
          <p:cNvPr id="21" name="Shape 15"/>
          <p:cNvSpPr/>
          <p:nvPr/>
        </p:nvSpPr>
        <p:spPr>
          <a:xfrm>
            <a:off x="548640" y="3154680"/>
            <a:ext cx="2011680" cy="1417320"/>
          </a:xfrm>
          <a:prstGeom prst="roundRect">
            <a:avLst>
              <a:gd name="adj" fmla="val 4516"/>
            </a:avLst>
          </a:prstGeom>
          <a:solidFill>
            <a:srgbClr val="F6F2EC"/>
          </a:solidFill>
          <a:ln w="12700">
            <a:solidFill>
              <a:srgbClr val="E7E2DA"/>
            </a:solidFill>
            <a:prstDash val="solid"/>
          </a:ln>
        </p:spPr>
      </p:sp>
      <p:sp>
        <p:nvSpPr>
          <p:cNvPr id="22" name="Shape 16"/>
          <p:cNvSpPr/>
          <p:nvPr/>
        </p:nvSpPr>
        <p:spPr>
          <a:xfrm>
            <a:off x="1225296" y="3410712"/>
            <a:ext cx="658368" cy="65836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23" name="Image 4" descr="preencoded.png">    </p:cNvPr>
          <p:cNvPicPr>
            <a:picLocks noChangeAspect="1"/>
          </p:cNvPicPr>
          <p:nvPr/>
        </p:nvPicPr>
        <p:blipFill>
          <a:blip r:embed="rId5"/>
          <a:stretch>
            <a:fillRect/>
          </a:stretch>
        </p:blipFill>
        <p:spPr>
          <a:xfrm>
            <a:off x="1383304" y="3568720"/>
            <a:ext cx="342351" cy="342351"/>
          </a:xfrm>
          <a:prstGeom prst="rect">
            <a:avLst/>
          </a:prstGeom>
        </p:spPr>
      </p:pic>
      <p:sp>
        <p:nvSpPr>
          <p:cNvPr id="24" name="Text 17"/>
          <p:cNvSpPr/>
          <p:nvPr/>
        </p:nvSpPr>
        <p:spPr>
          <a:xfrm>
            <a:off x="640080" y="4123944"/>
            <a:ext cx="1828800" cy="384048"/>
          </a:xfrm>
          <a:prstGeom prst="rect">
            <a:avLst/>
          </a:prstGeom>
          <a:noFill/>
          <a:ln/>
        </p:spPr>
        <p:txBody>
          <a:bodyPr wrap="square" lIns="0" tIns="0" rIns="0" bIns="0" rtlCol="0" anchor="ctr"/>
          <a:lstStyle/>
          <a:p>
            <a:pPr algn="ctr" indent="0" marL="0">
              <a:buNone/>
            </a:pPr>
            <a:r>
              <a:rPr lang="en-US" sz="1250" b="1" dirty="0">
                <a:solidFill>
                  <a:srgbClr val="1F1F23"/>
                </a:solidFill>
                <a:latin typeface="Trebuchet MS" pitchFamily="34" charset="0"/>
                <a:ea typeface="Trebuchet MS" pitchFamily="34" charset="-122"/>
                <a:cs typeface="Trebuchet MS" pitchFamily="34" charset="-120"/>
              </a:rPr>
              <a:t>Estadísticas y rankings</a:t>
            </a:r>
            <a:endParaRPr lang="en-US" sz="1250" dirty="0"/>
          </a:p>
        </p:txBody>
      </p:sp>
      <p:sp>
        <p:nvSpPr>
          <p:cNvPr id="25" name="Shape 18"/>
          <p:cNvSpPr/>
          <p:nvPr/>
        </p:nvSpPr>
        <p:spPr>
          <a:xfrm>
            <a:off x="2724912" y="3154680"/>
            <a:ext cx="2011680" cy="1417320"/>
          </a:xfrm>
          <a:prstGeom prst="roundRect">
            <a:avLst>
              <a:gd name="adj" fmla="val 4516"/>
            </a:avLst>
          </a:prstGeom>
          <a:solidFill>
            <a:srgbClr val="F6F2EC"/>
          </a:solidFill>
          <a:ln w="12700">
            <a:solidFill>
              <a:srgbClr val="E7E2DA"/>
            </a:solidFill>
            <a:prstDash val="solid"/>
          </a:ln>
        </p:spPr>
      </p:sp>
      <p:sp>
        <p:nvSpPr>
          <p:cNvPr id="26" name="Shape 19"/>
          <p:cNvSpPr/>
          <p:nvPr/>
        </p:nvSpPr>
        <p:spPr>
          <a:xfrm>
            <a:off x="3401568" y="3410712"/>
            <a:ext cx="658368" cy="65836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27" name="Image 5" descr="preencoded.png">    </p:cNvPr>
          <p:cNvPicPr>
            <a:picLocks noChangeAspect="1"/>
          </p:cNvPicPr>
          <p:nvPr/>
        </p:nvPicPr>
        <p:blipFill>
          <a:blip r:embed="rId6"/>
          <a:stretch>
            <a:fillRect/>
          </a:stretch>
        </p:blipFill>
        <p:spPr>
          <a:xfrm>
            <a:off x="3559576" y="3568720"/>
            <a:ext cx="342351" cy="342351"/>
          </a:xfrm>
          <a:prstGeom prst="rect">
            <a:avLst/>
          </a:prstGeom>
        </p:spPr>
      </p:pic>
      <p:sp>
        <p:nvSpPr>
          <p:cNvPr id="28" name="Text 20"/>
          <p:cNvSpPr/>
          <p:nvPr/>
        </p:nvSpPr>
        <p:spPr>
          <a:xfrm>
            <a:off x="2816352" y="4123944"/>
            <a:ext cx="1828800" cy="384048"/>
          </a:xfrm>
          <a:prstGeom prst="rect">
            <a:avLst/>
          </a:prstGeom>
          <a:noFill/>
          <a:ln/>
        </p:spPr>
        <p:txBody>
          <a:bodyPr wrap="square" lIns="0" tIns="0" rIns="0" bIns="0" rtlCol="0" anchor="ctr"/>
          <a:lstStyle/>
          <a:p>
            <a:pPr algn="ctr" indent="0" marL="0">
              <a:buNone/>
            </a:pPr>
            <a:r>
              <a:rPr lang="en-US" sz="1250" b="1" dirty="0">
                <a:solidFill>
                  <a:srgbClr val="1F1F23"/>
                </a:solidFill>
                <a:latin typeface="Trebuchet MS" pitchFamily="34" charset="0"/>
                <a:ea typeface="Trebuchet MS" pitchFamily="34" charset="-122"/>
                <a:cs typeface="Trebuchet MS" pitchFamily="34" charset="-120"/>
              </a:rPr>
              <a:t>Dashboard de admin</a:t>
            </a:r>
            <a:endParaRPr lang="en-US" sz="1250" dirty="0"/>
          </a:p>
        </p:txBody>
      </p:sp>
      <p:sp>
        <p:nvSpPr>
          <p:cNvPr id="29" name="Shape 21"/>
          <p:cNvSpPr/>
          <p:nvPr/>
        </p:nvSpPr>
        <p:spPr>
          <a:xfrm>
            <a:off x="4901184" y="3154680"/>
            <a:ext cx="2011680" cy="1417320"/>
          </a:xfrm>
          <a:prstGeom prst="roundRect">
            <a:avLst>
              <a:gd name="adj" fmla="val 4516"/>
            </a:avLst>
          </a:prstGeom>
          <a:solidFill>
            <a:srgbClr val="F6F2EC"/>
          </a:solidFill>
          <a:ln w="12700">
            <a:solidFill>
              <a:srgbClr val="E7E2DA"/>
            </a:solidFill>
            <a:prstDash val="solid"/>
          </a:ln>
        </p:spPr>
      </p:sp>
      <p:sp>
        <p:nvSpPr>
          <p:cNvPr id="30" name="Shape 22"/>
          <p:cNvSpPr/>
          <p:nvPr/>
        </p:nvSpPr>
        <p:spPr>
          <a:xfrm>
            <a:off x="5577840" y="3410712"/>
            <a:ext cx="658368" cy="65836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31" name="Image 6" descr="preencoded.png">    </p:cNvPr>
          <p:cNvPicPr>
            <a:picLocks noChangeAspect="1"/>
          </p:cNvPicPr>
          <p:nvPr/>
        </p:nvPicPr>
        <p:blipFill>
          <a:blip r:embed="rId7"/>
          <a:stretch>
            <a:fillRect/>
          </a:stretch>
        </p:blipFill>
        <p:spPr>
          <a:xfrm>
            <a:off x="5735848" y="3568720"/>
            <a:ext cx="342351" cy="342351"/>
          </a:xfrm>
          <a:prstGeom prst="rect">
            <a:avLst/>
          </a:prstGeom>
        </p:spPr>
      </p:pic>
      <p:sp>
        <p:nvSpPr>
          <p:cNvPr id="32" name="Text 23"/>
          <p:cNvSpPr/>
          <p:nvPr/>
        </p:nvSpPr>
        <p:spPr>
          <a:xfrm>
            <a:off x="4992624" y="4123944"/>
            <a:ext cx="1828800" cy="384048"/>
          </a:xfrm>
          <a:prstGeom prst="rect">
            <a:avLst/>
          </a:prstGeom>
          <a:noFill/>
          <a:ln/>
        </p:spPr>
        <p:txBody>
          <a:bodyPr wrap="square" lIns="0" tIns="0" rIns="0" bIns="0" rtlCol="0" anchor="ctr"/>
          <a:lstStyle/>
          <a:p>
            <a:pPr algn="ctr" indent="0" marL="0">
              <a:buNone/>
            </a:pPr>
            <a:r>
              <a:rPr lang="en-US" sz="1250" b="1" dirty="0">
                <a:solidFill>
                  <a:srgbClr val="1F1F23"/>
                </a:solidFill>
                <a:latin typeface="Trebuchet MS" pitchFamily="34" charset="0"/>
                <a:ea typeface="Trebuchet MS" pitchFamily="34" charset="-122"/>
                <a:cs typeface="Trebuchet MS" pitchFamily="34" charset="-120"/>
              </a:rPr>
              <a:t>Exportación PDF/Excel</a:t>
            </a:r>
            <a:endParaRPr lang="en-US" sz="1250" dirty="0"/>
          </a:p>
        </p:txBody>
      </p:sp>
      <p:sp>
        <p:nvSpPr>
          <p:cNvPr id="33" name="Shape 24"/>
          <p:cNvSpPr/>
          <p:nvPr/>
        </p:nvSpPr>
        <p:spPr>
          <a:xfrm>
            <a:off x="7077456" y="3154680"/>
            <a:ext cx="2011680" cy="1417320"/>
          </a:xfrm>
          <a:prstGeom prst="roundRect">
            <a:avLst>
              <a:gd name="adj" fmla="val 4516"/>
            </a:avLst>
          </a:prstGeom>
          <a:solidFill>
            <a:srgbClr val="F6F2EC"/>
          </a:solidFill>
          <a:ln w="12700">
            <a:solidFill>
              <a:srgbClr val="E7E2DA"/>
            </a:solidFill>
            <a:prstDash val="solid"/>
          </a:ln>
        </p:spPr>
      </p:sp>
      <p:sp>
        <p:nvSpPr>
          <p:cNvPr id="34" name="Shape 25"/>
          <p:cNvSpPr/>
          <p:nvPr/>
        </p:nvSpPr>
        <p:spPr>
          <a:xfrm>
            <a:off x="7754112" y="3410712"/>
            <a:ext cx="658368" cy="65836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35" name="Image 7" descr="preencoded.png">    </p:cNvPr>
          <p:cNvPicPr>
            <a:picLocks noChangeAspect="1"/>
          </p:cNvPicPr>
          <p:nvPr/>
        </p:nvPicPr>
        <p:blipFill>
          <a:blip r:embed="rId8"/>
          <a:stretch>
            <a:fillRect/>
          </a:stretch>
        </p:blipFill>
        <p:spPr>
          <a:xfrm>
            <a:off x="7912120" y="3568720"/>
            <a:ext cx="342351" cy="342351"/>
          </a:xfrm>
          <a:prstGeom prst="rect">
            <a:avLst/>
          </a:prstGeom>
        </p:spPr>
      </p:pic>
      <p:sp>
        <p:nvSpPr>
          <p:cNvPr id="36" name="Text 26"/>
          <p:cNvSpPr/>
          <p:nvPr/>
        </p:nvSpPr>
        <p:spPr>
          <a:xfrm>
            <a:off x="7168896" y="4123944"/>
            <a:ext cx="1828800" cy="384048"/>
          </a:xfrm>
          <a:prstGeom prst="rect">
            <a:avLst/>
          </a:prstGeom>
          <a:noFill/>
          <a:ln/>
        </p:spPr>
        <p:txBody>
          <a:bodyPr wrap="square" lIns="0" tIns="0" rIns="0" bIns="0" rtlCol="0" anchor="ctr"/>
          <a:lstStyle/>
          <a:p>
            <a:pPr algn="ctr" indent="0" marL="0">
              <a:buNone/>
            </a:pPr>
            <a:r>
              <a:rPr lang="en-US" sz="1250" b="1" dirty="0">
                <a:solidFill>
                  <a:srgbClr val="1F1F23"/>
                </a:solidFill>
                <a:latin typeface="Trebuchet MS" pitchFamily="34" charset="0"/>
                <a:ea typeface="Trebuchet MS" pitchFamily="34" charset="-122"/>
                <a:cs typeface="Trebuchet MS" pitchFamily="34" charset="-120"/>
              </a:rPr>
              <a:t>Notificaciones push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04 · DESTACADO</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Equipos equilibrados con un toque</a:t>
            </a:r>
            <a:endParaRPr lang="en-US" sz="2600" dirty="0"/>
          </a:p>
        </p:txBody>
      </p:sp>
      <p:sp>
        <p:nvSpPr>
          <p:cNvPr id="5" name="Text 3"/>
          <p:cNvSpPr/>
          <p:nvPr/>
        </p:nvSpPr>
        <p:spPr>
          <a:xfrm>
            <a:off x="548640" y="1463040"/>
            <a:ext cx="4663440" cy="731520"/>
          </a:xfrm>
          <a:prstGeom prst="rect">
            <a:avLst/>
          </a:prstGeom>
          <a:noFill/>
          <a:ln/>
        </p:spPr>
        <p:txBody>
          <a:bodyPr wrap="square" lIns="0" tIns="0" rIns="0" bIns="0" rtlCol="0" anchor="t"/>
          <a:lstStyle/>
          <a:p>
            <a:pPr indent="0" marL="0">
              <a:buNone/>
            </a:pPr>
            <a:r>
              <a:rPr lang="en-US" sz="1450" b="1" dirty="0">
                <a:solidFill>
                  <a:srgbClr val="1F1F23"/>
                </a:solidFill>
                <a:latin typeface="Calibri" pitchFamily="34" charset="0"/>
                <a:ea typeface="Calibri" pitchFamily="34" charset="-122"/>
                <a:cs typeface="Calibri" pitchFamily="34" charset="-120"/>
              </a:rPr>
              <a:t>El reto: </a:t>
            </a:r>
            <a:pPr indent="0" marL="0">
              <a:buNone/>
            </a:pPr>
            <a:r>
              <a:rPr lang="en-US" sz="1450" dirty="0">
                <a:solidFill>
                  <a:srgbClr val="6E6E73"/>
                </a:solidFill>
                <a:latin typeface="Calibri" pitchFamily="34" charset="0"/>
                <a:ea typeface="Calibri" pitchFamily="34" charset="-122"/>
                <a:cs typeface="Calibri" pitchFamily="34" charset="-120"/>
              </a:rPr>
              <a:t>repartir a los jugadores en equipos parejos para que los partidos sean competidos.</a:t>
            </a:r>
            <a:endParaRPr lang="en-US" sz="1450" dirty="0"/>
          </a:p>
        </p:txBody>
      </p:sp>
      <p:sp>
        <p:nvSpPr>
          <p:cNvPr id="6" name="Shape 4"/>
          <p:cNvSpPr/>
          <p:nvPr/>
        </p:nvSpPr>
        <p:spPr>
          <a:xfrm>
            <a:off x="566928" y="2240280"/>
            <a:ext cx="530352" cy="530352"/>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694212" y="2367564"/>
            <a:ext cx="275783" cy="275783"/>
          </a:xfrm>
          <a:prstGeom prst="rect">
            <a:avLst/>
          </a:prstGeom>
        </p:spPr>
      </p:pic>
      <p:sp>
        <p:nvSpPr>
          <p:cNvPr id="8" name="Text 5"/>
          <p:cNvSpPr/>
          <p:nvPr/>
        </p:nvSpPr>
        <p:spPr>
          <a:xfrm>
            <a:off x="1280160" y="2203704"/>
            <a:ext cx="4023360" cy="292608"/>
          </a:xfrm>
          <a:prstGeom prst="rect">
            <a:avLst/>
          </a:prstGeom>
          <a:noFill/>
          <a:ln/>
        </p:spPr>
        <p:txBody>
          <a:bodyPr wrap="square" lIns="0" tIns="0" rIns="0" bIns="0" rtlCol="0" anchor="ctr"/>
          <a:lstStyle/>
          <a:p>
            <a:pPr indent="0" marL="0">
              <a:buNone/>
            </a:pPr>
            <a:r>
              <a:rPr lang="en-US" sz="1350" b="1" dirty="0">
                <a:solidFill>
                  <a:srgbClr val="1F1F23"/>
                </a:solidFill>
                <a:latin typeface="Trebuchet MS" pitchFamily="34" charset="0"/>
                <a:ea typeface="Trebuchet MS" pitchFamily="34" charset="-122"/>
                <a:cs typeface="Trebuchet MS" pitchFamily="34" charset="-120"/>
              </a:rPr>
              <a:t>Algoritmo de equilibrado</a:t>
            </a:r>
            <a:endParaRPr lang="en-US" sz="1350" dirty="0"/>
          </a:p>
        </p:txBody>
      </p:sp>
      <p:sp>
        <p:nvSpPr>
          <p:cNvPr id="9" name="Text 6"/>
          <p:cNvSpPr/>
          <p:nvPr/>
        </p:nvSpPr>
        <p:spPr>
          <a:xfrm>
            <a:off x="1280160" y="2496312"/>
            <a:ext cx="4023360" cy="45720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Reparte según nivel, edad y posición para igualar la fuerza de cada equipo.</a:t>
            </a:r>
            <a:endParaRPr lang="en-US" sz="1150" dirty="0"/>
          </a:p>
        </p:txBody>
      </p:sp>
      <p:sp>
        <p:nvSpPr>
          <p:cNvPr id="10" name="Shape 7"/>
          <p:cNvSpPr/>
          <p:nvPr/>
        </p:nvSpPr>
        <p:spPr>
          <a:xfrm>
            <a:off x="566928" y="3081528"/>
            <a:ext cx="530352" cy="530352"/>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1" name="Image 1" descr="preencoded.png">    </p:cNvPr>
          <p:cNvPicPr>
            <a:picLocks noChangeAspect="1"/>
          </p:cNvPicPr>
          <p:nvPr/>
        </p:nvPicPr>
        <p:blipFill>
          <a:blip r:embed="rId2"/>
          <a:stretch>
            <a:fillRect/>
          </a:stretch>
        </p:blipFill>
        <p:spPr>
          <a:xfrm>
            <a:off x="694212" y="3208812"/>
            <a:ext cx="275783" cy="275783"/>
          </a:xfrm>
          <a:prstGeom prst="rect">
            <a:avLst/>
          </a:prstGeom>
        </p:spPr>
      </p:pic>
      <p:sp>
        <p:nvSpPr>
          <p:cNvPr id="12" name="Text 8"/>
          <p:cNvSpPr/>
          <p:nvPr/>
        </p:nvSpPr>
        <p:spPr>
          <a:xfrm>
            <a:off x="1280160" y="3044952"/>
            <a:ext cx="4023360" cy="292608"/>
          </a:xfrm>
          <a:prstGeom prst="rect">
            <a:avLst/>
          </a:prstGeom>
          <a:noFill/>
          <a:ln/>
        </p:spPr>
        <p:txBody>
          <a:bodyPr wrap="square" lIns="0" tIns="0" rIns="0" bIns="0" rtlCol="0" anchor="ctr"/>
          <a:lstStyle/>
          <a:p>
            <a:pPr indent="0" marL="0">
              <a:buNone/>
            </a:pPr>
            <a:r>
              <a:rPr lang="en-US" sz="1350" b="1" dirty="0">
                <a:solidFill>
                  <a:srgbClr val="1F1F23"/>
                </a:solidFill>
                <a:latin typeface="Trebuchet MS" pitchFamily="34" charset="0"/>
                <a:ea typeface="Trebuchet MS" pitchFamily="34" charset="-122"/>
                <a:cs typeface="Trebuchet MS" pitchFamily="34" charset="-120"/>
              </a:rPr>
              <a:t>Equipos de partido</a:t>
            </a:r>
            <a:endParaRPr lang="en-US" sz="1350" dirty="0"/>
          </a:p>
        </p:txBody>
      </p:sp>
      <p:sp>
        <p:nvSpPr>
          <p:cNvPr id="13" name="Text 9"/>
          <p:cNvSpPr/>
          <p:nvPr/>
        </p:nvSpPr>
        <p:spPr>
          <a:xfrm>
            <a:off x="1280160" y="3337560"/>
            <a:ext cx="4023360" cy="45720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Generados aparte y excluidos del ranking de competición (is_match_team).</a:t>
            </a:r>
            <a:endParaRPr lang="en-US" sz="1150" dirty="0"/>
          </a:p>
        </p:txBody>
      </p:sp>
      <p:sp>
        <p:nvSpPr>
          <p:cNvPr id="14" name="Shape 10"/>
          <p:cNvSpPr/>
          <p:nvPr/>
        </p:nvSpPr>
        <p:spPr>
          <a:xfrm>
            <a:off x="566928" y="3922776"/>
            <a:ext cx="530352" cy="530352"/>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5" name="Image 2" descr="preencoded.png">    </p:cNvPr>
          <p:cNvPicPr>
            <a:picLocks noChangeAspect="1"/>
          </p:cNvPicPr>
          <p:nvPr/>
        </p:nvPicPr>
        <p:blipFill>
          <a:blip r:embed="rId3"/>
          <a:stretch>
            <a:fillRect/>
          </a:stretch>
        </p:blipFill>
        <p:spPr>
          <a:xfrm>
            <a:off x="694212" y="4050060"/>
            <a:ext cx="275783" cy="275783"/>
          </a:xfrm>
          <a:prstGeom prst="rect">
            <a:avLst/>
          </a:prstGeom>
        </p:spPr>
      </p:pic>
      <p:sp>
        <p:nvSpPr>
          <p:cNvPr id="16" name="Text 11"/>
          <p:cNvSpPr/>
          <p:nvPr/>
        </p:nvSpPr>
        <p:spPr>
          <a:xfrm>
            <a:off x="1280160" y="3886200"/>
            <a:ext cx="4023360" cy="292608"/>
          </a:xfrm>
          <a:prstGeom prst="rect">
            <a:avLst/>
          </a:prstGeom>
          <a:noFill/>
          <a:ln/>
        </p:spPr>
        <p:txBody>
          <a:bodyPr wrap="square" lIns="0" tIns="0" rIns="0" bIns="0" rtlCol="0" anchor="ctr"/>
          <a:lstStyle/>
          <a:p>
            <a:pPr indent="0" marL="0">
              <a:buNone/>
            </a:pPr>
            <a:r>
              <a:rPr lang="en-US" sz="1350" b="1" dirty="0">
                <a:solidFill>
                  <a:srgbClr val="1F1F23"/>
                </a:solidFill>
                <a:latin typeface="Trebuchet MS" pitchFamily="34" charset="0"/>
                <a:ea typeface="Trebuchet MS" pitchFamily="34" charset="-122"/>
                <a:cs typeface="Trebuchet MS" pitchFamily="34" charset="-120"/>
              </a:rPr>
              <a:t>Manual o automático</a:t>
            </a:r>
            <a:endParaRPr lang="en-US" sz="1350" dirty="0"/>
          </a:p>
        </p:txBody>
      </p:sp>
      <p:sp>
        <p:nvSpPr>
          <p:cNvPr id="17" name="Text 12"/>
          <p:cNvSpPr/>
          <p:nvPr/>
        </p:nvSpPr>
        <p:spPr>
          <a:xfrm>
            <a:off x="1280160" y="4178808"/>
            <a:ext cx="4023360" cy="45720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El entrenador puede crear grupos a mano o generarlos al instante.</a:t>
            </a:r>
            <a:endParaRPr lang="en-US" sz="1150" dirty="0"/>
          </a:p>
        </p:txBody>
      </p:sp>
      <p:sp>
        <p:nvSpPr>
          <p:cNvPr id="18" name="Shape 13"/>
          <p:cNvSpPr/>
          <p:nvPr/>
        </p:nvSpPr>
        <p:spPr>
          <a:xfrm>
            <a:off x="6336792" y="1353312"/>
            <a:ext cx="2459736" cy="3172968"/>
          </a:xfrm>
          <a:prstGeom prst="roundRect">
            <a:avLst>
              <a:gd name="adj" fmla="val 2974"/>
            </a:avLst>
          </a:prstGeom>
          <a:solidFill>
            <a:srgbClr val="FFFFFF"/>
          </a:solidFill>
          <a:ln w="12700">
            <a:solidFill>
              <a:srgbClr val="E7E2DA"/>
            </a:solidFill>
            <a:prstDash val="solid"/>
          </a:ln>
          <a:effectLst>
            <a:outerShdw sx="100000" sy="100000" kx="0" ky="0" algn="bl" rotWithShape="0" blurRad="88900" dist="38100" dir="8100000">
              <a:srgbClr val="000000">
                <a:alpha val="18000"/>
              </a:srgbClr>
            </a:outerShdw>
          </a:effectLst>
        </p:spPr>
      </p:sp>
      <p:pic>
        <p:nvPicPr>
          <p:cNvPr id="19" name="Image 3" descr="media/autoteams.png">    </p:cNvPr>
          <p:cNvPicPr>
            <a:picLocks noChangeAspect="1"/>
          </p:cNvPicPr>
          <p:nvPr/>
        </p:nvPicPr>
        <p:blipFill>
          <a:blip r:embed="rId4"/>
          <a:stretch>
            <a:fillRect/>
          </a:stretch>
        </p:blipFill>
        <p:spPr>
          <a:xfrm>
            <a:off x="6400800" y="1417320"/>
            <a:ext cx="2331720" cy="304495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04 · COMPETICIÓN</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Tres formatos de competición</a:t>
            </a:r>
            <a:endParaRPr lang="en-US" sz="2600" dirty="0"/>
          </a:p>
        </p:txBody>
      </p:sp>
      <p:sp>
        <p:nvSpPr>
          <p:cNvPr id="5" name="Shape 3"/>
          <p:cNvSpPr/>
          <p:nvPr/>
        </p:nvSpPr>
        <p:spPr>
          <a:xfrm>
            <a:off x="548640" y="1463040"/>
            <a:ext cx="5120640" cy="960120"/>
          </a:xfrm>
          <a:prstGeom prst="roundRect">
            <a:avLst>
              <a:gd name="adj" fmla="val 5714"/>
            </a:avLst>
          </a:prstGeom>
          <a:solidFill>
            <a:srgbClr val="F6F2EC"/>
          </a:solidFill>
          <a:ln w="12700">
            <a:solidFill>
              <a:srgbClr val="E7E2DA"/>
            </a:solidFill>
            <a:prstDash val="solid"/>
          </a:ln>
        </p:spPr>
      </p:sp>
      <p:sp>
        <p:nvSpPr>
          <p:cNvPr id="6" name="Shape 4"/>
          <p:cNvSpPr/>
          <p:nvPr/>
        </p:nvSpPr>
        <p:spPr>
          <a:xfrm>
            <a:off x="749808" y="166878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881482" y="1800454"/>
            <a:ext cx="285293" cy="285293"/>
          </a:xfrm>
          <a:prstGeom prst="rect">
            <a:avLst/>
          </a:prstGeom>
        </p:spPr>
      </p:pic>
      <p:sp>
        <p:nvSpPr>
          <p:cNvPr id="8" name="Text 5"/>
          <p:cNvSpPr/>
          <p:nvPr/>
        </p:nvSpPr>
        <p:spPr>
          <a:xfrm>
            <a:off x="1508760" y="1581912"/>
            <a:ext cx="4023360" cy="320040"/>
          </a:xfrm>
          <a:prstGeom prst="rect">
            <a:avLst/>
          </a:prstGeom>
          <a:noFill/>
          <a:ln/>
        </p:spPr>
        <p:txBody>
          <a:bodyPr wrap="square" lIns="0" tIns="0" rIns="0" bIns="0" rtlCol="0" anchor="ctr"/>
          <a:lstStyle/>
          <a:p>
            <a:pPr indent="0" marL="0">
              <a:buNone/>
            </a:pPr>
            <a:r>
              <a:rPr lang="en-US" sz="1400" b="1" dirty="0">
                <a:solidFill>
                  <a:srgbClr val="1F1F23"/>
                </a:solidFill>
                <a:latin typeface="Trebuchet MS" pitchFamily="34" charset="0"/>
                <a:ea typeface="Trebuchet MS" pitchFamily="34" charset="-122"/>
                <a:cs typeface="Trebuchet MS" pitchFamily="34" charset="-120"/>
              </a:rPr>
              <a:t>Por estaciones</a:t>
            </a:r>
            <a:endParaRPr lang="en-US" sz="1400" dirty="0"/>
          </a:p>
        </p:txBody>
      </p:sp>
      <p:sp>
        <p:nvSpPr>
          <p:cNvPr id="9" name="Text 6"/>
          <p:cNvSpPr/>
          <p:nvPr/>
        </p:nvSpPr>
        <p:spPr>
          <a:xfrm>
            <a:off x="1508760" y="1911096"/>
            <a:ext cx="4023360" cy="45720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Pruebas físicas y técnicas con puntuación por jornadas y clasificación general.</a:t>
            </a:r>
            <a:endParaRPr lang="en-US" sz="1150" dirty="0"/>
          </a:p>
        </p:txBody>
      </p:sp>
      <p:sp>
        <p:nvSpPr>
          <p:cNvPr id="10" name="Shape 7"/>
          <p:cNvSpPr/>
          <p:nvPr/>
        </p:nvSpPr>
        <p:spPr>
          <a:xfrm>
            <a:off x="548640" y="2523744"/>
            <a:ext cx="5120640" cy="960120"/>
          </a:xfrm>
          <a:prstGeom prst="roundRect">
            <a:avLst>
              <a:gd name="adj" fmla="val 5714"/>
            </a:avLst>
          </a:prstGeom>
          <a:solidFill>
            <a:srgbClr val="F6F2EC"/>
          </a:solidFill>
          <a:ln w="12700">
            <a:solidFill>
              <a:srgbClr val="E7E2DA"/>
            </a:solidFill>
            <a:prstDash val="solid"/>
          </a:ln>
        </p:spPr>
      </p:sp>
      <p:sp>
        <p:nvSpPr>
          <p:cNvPr id="11" name="Shape 8"/>
          <p:cNvSpPr/>
          <p:nvPr/>
        </p:nvSpPr>
        <p:spPr>
          <a:xfrm>
            <a:off x="749808" y="2729484"/>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2" name="Image 1" descr="preencoded.png">    </p:cNvPr>
          <p:cNvPicPr>
            <a:picLocks noChangeAspect="1"/>
          </p:cNvPicPr>
          <p:nvPr/>
        </p:nvPicPr>
        <p:blipFill>
          <a:blip r:embed="rId2"/>
          <a:stretch>
            <a:fillRect/>
          </a:stretch>
        </p:blipFill>
        <p:spPr>
          <a:xfrm>
            <a:off x="881482" y="2861158"/>
            <a:ext cx="285293" cy="285293"/>
          </a:xfrm>
          <a:prstGeom prst="rect">
            <a:avLst/>
          </a:prstGeom>
        </p:spPr>
      </p:pic>
      <p:sp>
        <p:nvSpPr>
          <p:cNvPr id="13" name="Text 9"/>
          <p:cNvSpPr/>
          <p:nvPr/>
        </p:nvSpPr>
        <p:spPr>
          <a:xfrm>
            <a:off x="1508760" y="2642616"/>
            <a:ext cx="4023360" cy="320040"/>
          </a:xfrm>
          <a:prstGeom prst="rect">
            <a:avLst/>
          </a:prstGeom>
          <a:noFill/>
          <a:ln/>
        </p:spPr>
        <p:txBody>
          <a:bodyPr wrap="square" lIns="0" tIns="0" rIns="0" bIns="0" rtlCol="0" anchor="ctr"/>
          <a:lstStyle/>
          <a:p>
            <a:pPr indent="0" marL="0">
              <a:buNone/>
            </a:pPr>
            <a:r>
              <a:rPr lang="en-US" sz="1400" b="1" dirty="0">
                <a:solidFill>
                  <a:srgbClr val="1F1F23"/>
                </a:solidFill>
                <a:latin typeface="Trebuchet MS" pitchFamily="34" charset="0"/>
                <a:ea typeface="Trebuchet MS" pitchFamily="34" charset="-122"/>
                <a:cs typeface="Trebuchet MS" pitchFamily="34" charset="-120"/>
              </a:rPr>
              <a:t>Competiciones de siesta</a:t>
            </a:r>
            <a:endParaRPr lang="en-US" sz="1400" dirty="0"/>
          </a:p>
        </p:txBody>
      </p:sp>
      <p:sp>
        <p:nvSpPr>
          <p:cNvPr id="14" name="Text 10"/>
          <p:cNvSpPr/>
          <p:nvPr/>
        </p:nvSpPr>
        <p:spPr>
          <a:xfrm>
            <a:off x="1508760" y="2971800"/>
            <a:ext cx="4023360" cy="45720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Ligas y eliminatorias (grupos → cuadro) con clasificación y brackets.</a:t>
            </a:r>
            <a:endParaRPr lang="en-US" sz="1150" dirty="0"/>
          </a:p>
        </p:txBody>
      </p:sp>
      <p:sp>
        <p:nvSpPr>
          <p:cNvPr id="15" name="Shape 11"/>
          <p:cNvSpPr/>
          <p:nvPr/>
        </p:nvSpPr>
        <p:spPr>
          <a:xfrm>
            <a:off x="548640" y="3584448"/>
            <a:ext cx="5120640" cy="960120"/>
          </a:xfrm>
          <a:prstGeom prst="roundRect">
            <a:avLst>
              <a:gd name="adj" fmla="val 5714"/>
            </a:avLst>
          </a:prstGeom>
          <a:solidFill>
            <a:srgbClr val="F6F2EC"/>
          </a:solidFill>
          <a:ln w="12700">
            <a:solidFill>
              <a:srgbClr val="E7E2DA"/>
            </a:solidFill>
            <a:prstDash val="solid"/>
          </a:ln>
        </p:spPr>
      </p:sp>
      <p:sp>
        <p:nvSpPr>
          <p:cNvPr id="16" name="Shape 12"/>
          <p:cNvSpPr/>
          <p:nvPr/>
        </p:nvSpPr>
        <p:spPr>
          <a:xfrm>
            <a:off x="749808" y="3790188"/>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7" name="Image 2" descr="preencoded.png">    </p:cNvPr>
          <p:cNvPicPr>
            <a:picLocks noChangeAspect="1"/>
          </p:cNvPicPr>
          <p:nvPr/>
        </p:nvPicPr>
        <p:blipFill>
          <a:blip r:embed="rId3"/>
          <a:stretch>
            <a:fillRect/>
          </a:stretch>
        </p:blipFill>
        <p:spPr>
          <a:xfrm>
            <a:off x="881482" y="3921862"/>
            <a:ext cx="285293" cy="285293"/>
          </a:xfrm>
          <a:prstGeom prst="rect">
            <a:avLst/>
          </a:prstGeom>
        </p:spPr>
      </p:pic>
      <p:sp>
        <p:nvSpPr>
          <p:cNvPr id="18" name="Text 13"/>
          <p:cNvSpPr/>
          <p:nvPr/>
        </p:nvSpPr>
        <p:spPr>
          <a:xfrm>
            <a:off x="1508760" y="3703320"/>
            <a:ext cx="4023360" cy="320040"/>
          </a:xfrm>
          <a:prstGeom prst="rect">
            <a:avLst/>
          </a:prstGeom>
          <a:noFill/>
          <a:ln/>
        </p:spPr>
        <p:txBody>
          <a:bodyPr wrap="square" lIns="0" tIns="0" rIns="0" bIns="0" rtlCol="0" anchor="ctr"/>
          <a:lstStyle/>
          <a:p>
            <a:pPr indent="0" marL="0">
              <a:buNone/>
            </a:pPr>
            <a:r>
              <a:rPr lang="en-US" sz="1400" b="1" dirty="0">
                <a:solidFill>
                  <a:srgbClr val="1F1F23"/>
                </a:solidFill>
                <a:latin typeface="Trebuchet MS" pitchFamily="34" charset="0"/>
                <a:ea typeface="Trebuchet MS" pitchFamily="34" charset="-122"/>
                <a:cs typeface="Trebuchet MS" pitchFamily="34" charset="-120"/>
              </a:rPr>
              <a:t>Veladas</a:t>
            </a:r>
            <a:endParaRPr lang="en-US" sz="1400" dirty="0"/>
          </a:p>
        </p:txBody>
      </p:sp>
      <p:sp>
        <p:nvSpPr>
          <p:cNvPr id="19" name="Text 14"/>
          <p:cNvSpPr/>
          <p:nvPr/>
        </p:nvSpPr>
        <p:spPr>
          <a:xfrm>
            <a:off x="1508760" y="4032504"/>
            <a:ext cx="4023360" cy="457200"/>
          </a:xfrm>
          <a:prstGeom prst="rect">
            <a:avLst/>
          </a:prstGeom>
          <a:noFill/>
          <a:ln/>
        </p:spPr>
        <p:txBody>
          <a:bodyPr wrap="square" lIns="0" tIns="0" rIns="0" bIns="0" rtlCol="0" anchor="ctr"/>
          <a:lstStyle/>
          <a:p>
            <a:pPr indent="0" marL="0">
              <a:buNone/>
            </a:pPr>
            <a:r>
              <a:rPr lang="en-US" sz="1150" dirty="0">
                <a:solidFill>
                  <a:srgbClr val="6E6E73"/>
                </a:solidFill>
                <a:latin typeface="Calibri" pitchFamily="34" charset="0"/>
                <a:ea typeface="Calibri" pitchFamily="34" charset="-122"/>
                <a:cs typeface="Calibri" pitchFamily="34" charset="-120"/>
              </a:rPr>
              <a:t>Grupos por equipos con ganadores, pensado para las actividades de tarde-noche.</a:t>
            </a:r>
            <a:endParaRPr lang="en-US" sz="1150" dirty="0"/>
          </a:p>
        </p:txBody>
      </p:sp>
      <p:sp>
        <p:nvSpPr>
          <p:cNvPr id="20" name="Shape 15"/>
          <p:cNvSpPr/>
          <p:nvPr/>
        </p:nvSpPr>
        <p:spPr>
          <a:xfrm>
            <a:off x="6062472" y="1353312"/>
            <a:ext cx="2734056" cy="3191256"/>
          </a:xfrm>
          <a:prstGeom prst="roundRect">
            <a:avLst>
              <a:gd name="adj" fmla="val 2676"/>
            </a:avLst>
          </a:prstGeom>
          <a:solidFill>
            <a:srgbClr val="FFFFFF"/>
          </a:solidFill>
          <a:ln w="12700">
            <a:solidFill>
              <a:srgbClr val="E7E2DA"/>
            </a:solidFill>
            <a:prstDash val="solid"/>
          </a:ln>
          <a:effectLst>
            <a:outerShdw sx="100000" sy="100000" kx="0" ky="0" algn="bl" rotWithShape="0" blurRad="88900" dist="38100" dir="8100000">
              <a:srgbClr val="000000">
                <a:alpha val="18000"/>
              </a:srgbClr>
            </a:outerShdw>
          </a:effectLst>
        </p:spPr>
      </p:sp>
      <p:pic>
        <p:nvPicPr>
          <p:cNvPr id="21" name="Image 3" descr="media/bracket.png">    </p:cNvPr>
          <p:cNvPicPr>
            <a:picLocks noChangeAspect="1"/>
          </p:cNvPicPr>
          <p:nvPr/>
        </p:nvPicPr>
        <p:blipFill>
          <a:blip r:embed="rId4"/>
          <a:stretch>
            <a:fillRect/>
          </a:stretch>
        </p:blipFill>
        <p:spPr>
          <a:xfrm>
            <a:off x="6126480" y="1417320"/>
            <a:ext cx="2606040" cy="30632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171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411480"/>
            <a:ext cx="7315200" cy="274320"/>
          </a:xfrm>
          <a:prstGeom prst="rect">
            <a:avLst/>
          </a:prstGeom>
          <a:noFill/>
          <a:ln/>
        </p:spPr>
        <p:txBody>
          <a:bodyPr wrap="square" lIns="0" tIns="0" rIns="0" bIns="0" rtlCol="0" anchor="ctr"/>
          <a:lstStyle/>
          <a:p>
            <a:pPr indent="0" marL="0">
              <a:buNone/>
            </a:pPr>
            <a:r>
              <a:rPr lang="en-US" sz="1200" b="1" spc="200" kern="0" dirty="0">
                <a:solidFill>
                  <a:srgbClr val="F4A259"/>
                </a:solidFill>
                <a:latin typeface="Trebuchet MS" pitchFamily="34" charset="0"/>
                <a:ea typeface="Trebuchet MS" pitchFamily="34" charset="-122"/>
                <a:cs typeface="Trebuchet MS" pitchFamily="34" charset="-120"/>
              </a:rPr>
              <a:t>05 · LO MÁS EXIGENTE</a:t>
            </a:r>
            <a:endParaRPr lang="en-US" sz="1200" dirty="0"/>
          </a:p>
        </p:txBody>
      </p:sp>
      <p:sp>
        <p:nvSpPr>
          <p:cNvPr id="4" name="Text 2"/>
          <p:cNvSpPr/>
          <p:nvPr/>
        </p:nvSpPr>
        <p:spPr>
          <a:xfrm>
            <a:off x="548640" y="713232"/>
            <a:ext cx="7772400" cy="640080"/>
          </a:xfrm>
          <a:prstGeom prst="rect">
            <a:avLst/>
          </a:prstGeom>
          <a:noFill/>
          <a:ln/>
        </p:spPr>
        <p:txBody>
          <a:bodyPr wrap="square" lIns="0" tIns="0" rIns="0" bIns="0" rtlCol="0" anchor="ctr"/>
          <a:lstStyle/>
          <a:p>
            <a:pPr indent="0" marL="0">
              <a:buNone/>
            </a:pPr>
            <a:r>
              <a:rPr lang="en-US" sz="2600" dirty="0">
                <a:solidFill>
                  <a:srgbClr val="FFFFFF"/>
                </a:solidFill>
                <a:latin typeface="Arial Black" pitchFamily="34" charset="0"/>
                <a:ea typeface="Arial Black" pitchFamily="34" charset="-122"/>
                <a:cs typeface="Arial Black" pitchFamily="34" charset="-120"/>
              </a:rPr>
              <a:t>Partidos en directo, en tiempo real</a:t>
            </a:r>
            <a:endParaRPr lang="en-US" sz="2600" dirty="0"/>
          </a:p>
        </p:txBody>
      </p:sp>
      <p:sp>
        <p:nvSpPr>
          <p:cNvPr id="5" name="Shape 3"/>
          <p:cNvSpPr/>
          <p:nvPr/>
        </p:nvSpPr>
        <p:spPr>
          <a:xfrm>
            <a:off x="566928" y="155448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6" name="Image 0" descr="preencoded.png">    </p:cNvPr>
          <p:cNvPicPr>
            <a:picLocks noChangeAspect="1"/>
          </p:cNvPicPr>
          <p:nvPr/>
        </p:nvPicPr>
        <p:blipFill>
          <a:blip r:embed="rId1"/>
          <a:stretch>
            <a:fillRect/>
          </a:stretch>
        </p:blipFill>
        <p:spPr>
          <a:xfrm>
            <a:off x="698602" y="1686154"/>
            <a:ext cx="285293" cy="285293"/>
          </a:xfrm>
          <a:prstGeom prst="rect">
            <a:avLst/>
          </a:prstGeom>
        </p:spPr>
      </p:pic>
      <p:sp>
        <p:nvSpPr>
          <p:cNvPr id="7" name="Text 4"/>
          <p:cNvSpPr/>
          <p:nvPr/>
        </p:nvSpPr>
        <p:spPr>
          <a:xfrm>
            <a:off x="1325880" y="1536192"/>
            <a:ext cx="4114800" cy="292608"/>
          </a:xfrm>
          <a:prstGeom prst="rect">
            <a:avLst/>
          </a:prstGeom>
          <a:noFill/>
          <a:ln/>
        </p:spPr>
        <p:txBody>
          <a:bodyPr wrap="square" lIns="0" tIns="0" rIns="0" bIns="0" rtlCol="0" anchor="ctr"/>
          <a:lstStyle/>
          <a:p>
            <a:pPr indent="0" marL="0">
              <a:buNone/>
            </a:pPr>
            <a:r>
              <a:rPr lang="en-US" sz="1450" b="1" dirty="0">
                <a:solidFill>
                  <a:srgbClr val="FFFFFF"/>
                </a:solidFill>
                <a:latin typeface="Trebuchet MS" pitchFamily="34" charset="0"/>
                <a:ea typeface="Trebuchet MS" pitchFamily="34" charset="-122"/>
                <a:cs typeface="Trebuchet MS" pitchFamily="34" charset="-120"/>
              </a:rPr>
              <a:t>Supabase Realtime</a:t>
            </a:r>
            <a:endParaRPr lang="en-US" sz="1450" dirty="0"/>
          </a:p>
        </p:txBody>
      </p:sp>
      <p:sp>
        <p:nvSpPr>
          <p:cNvPr id="8" name="Text 5"/>
          <p:cNvSpPr/>
          <p:nvPr/>
        </p:nvSpPr>
        <p:spPr>
          <a:xfrm>
            <a:off x="1325880" y="1847088"/>
            <a:ext cx="4160520" cy="548640"/>
          </a:xfrm>
          <a:prstGeom prst="rect">
            <a:avLst/>
          </a:prstGeom>
          <a:noFill/>
          <a:ln/>
        </p:spPr>
        <p:txBody>
          <a:bodyPr wrap="square" lIns="0" tIns="0" rIns="0" bIns="0" rtlCol="0" anchor="ctr"/>
          <a:lstStyle/>
          <a:p>
            <a:pPr indent="0" marL="0">
              <a:buNone/>
            </a:pPr>
            <a:r>
              <a:rPr lang="en-US" sz="1200" dirty="0">
                <a:solidFill>
                  <a:srgbClr val="C9C4BC"/>
                </a:solidFill>
                <a:latin typeface="Calibri" pitchFamily="34" charset="0"/>
                <a:ea typeface="Calibri" pitchFamily="34" charset="-122"/>
                <a:cs typeface="Calibri" pitchFamily="34" charset="-120"/>
              </a:rPr>
              <a:t>Vía WebSockets, el marcador se sincroniza al instante en todos los dispositivos.</a:t>
            </a:r>
            <a:endParaRPr lang="en-US" sz="1200" dirty="0"/>
          </a:p>
        </p:txBody>
      </p:sp>
      <p:sp>
        <p:nvSpPr>
          <p:cNvPr id="9" name="Shape 6"/>
          <p:cNvSpPr/>
          <p:nvPr/>
        </p:nvSpPr>
        <p:spPr>
          <a:xfrm>
            <a:off x="566928" y="251460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0" name="Image 1" descr="preencoded.png">    </p:cNvPr>
          <p:cNvPicPr>
            <a:picLocks noChangeAspect="1"/>
          </p:cNvPicPr>
          <p:nvPr/>
        </p:nvPicPr>
        <p:blipFill>
          <a:blip r:embed="rId2"/>
          <a:stretch>
            <a:fillRect/>
          </a:stretch>
        </p:blipFill>
        <p:spPr>
          <a:xfrm>
            <a:off x="698602" y="2646274"/>
            <a:ext cx="285293" cy="285293"/>
          </a:xfrm>
          <a:prstGeom prst="rect">
            <a:avLst/>
          </a:prstGeom>
        </p:spPr>
      </p:pic>
      <p:sp>
        <p:nvSpPr>
          <p:cNvPr id="11" name="Text 7"/>
          <p:cNvSpPr/>
          <p:nvPr/>
        </p:nvSpPr>
        <p:spPr>
          <a:xfrm>
            <a:off x="1325880" y="2496312"/>
            <a:ext cx="4114800" cy="292608"/>
          </a:xfrm>
          <a:prstGeom prst="rect">
            <a:avLst/>
          </a:prstGeom>
          <a:noFill/>
          <a:ln/>
        </p:spPr>
        <p:txBody>
          <a:bodyPr wrap="square" lIns="0" tIns="0" rIns="0" bIns="0" rtlCol="0" anchor="ctr"/>
          <a:lstStyle/>
          <a:p>
            <a:pPr indent="0" marL="0">
              <a:buNone/>
            </a:pPr>
            <a:r>
              <a:rPr lang="en-US" sz="1450" b="1" dirty="0">
                <a:solidFill>
                  <a:srgbClr val="FFFFFF"/>
                </a:solidFill>
                <a:latin typeface="Trebuchet MS" pitchFamily="34" charset="0"/>
                <a:ea typeface="Trebuchet MS" pitchFamily="34" charset="-122"/>
                <a:cs typeface="Trebuchet MS" pitchFamily="34" charset="-120"/>
              </a:rPr>
              <a:t>Marcador y faltas</a:t>
            </a:r>
            <a:endParaRPr lang="en-US" sz="1450" dirty="0"/>
          </a:p>
        </p:txBody>
      </p:sp>
      <p:sp>
        <p:nvSpPr>
          <p:cNvPr id="12" name="Text 8"/>
          <p:cNvSpPr/>
          <p:nvPr/>
        </p:nvSpPr>
        <p:spPr>
          <a:xfrm>
            <a:off x="1325880" y="2807208"/>
            <a:ext cx="4160520" cy="548640"/>
          </a:xfrm>
          <a:prstGeom prst="rect">
            <a:avLst/>
          </a:prstGeom>
          <a:noFill/>
          <a:ln/>
        </p:spPr>
        <p:txBody>
          <a:bodyPr wrap="square" lIns="0" tIns="0" rIns="0" bIns="0" rtlCol="0" anchor="ctr"/>
          <a:lstStyle/>
          <a:p>
            <a:pPr indent="0" marL="0">
              <a:buNone/>
            </a:pPr>
            <a:r>
              <a:rPr lang="en-US" sz="1200" dirty="0">
                <a:solidFill>
                  <a:srgbClr val="C9C4BC"/>
                </a:solidFill>
                <a:latin typeface="Calibri" pitchFamily="34" charset="0"/>
                <a:ea typeface="Calibri" pitchFamily="34" charset="-122"/>
                <a:cs typeface="Calibri" pitchFamily="34" charset="-120"/>
              </a:rPr>
              <a:t>Puntos y faltas por equipo; los partidos en juego se ven desde cualquier pantalla.</a:t>
            </a:r>
            <a:endParaRPr lang="en-US" sz="1200" dirty="0"/>
          </a:p>
        </p:txBody>
      </p:sp>
      <p:sp>
        <p:nvSpPr>
          <p:cNvPr id="13" name="Shape 9"/>
          <p:cNvSpPr/>
          <p:nvPr/>
        </p:nvSpPr>
        <p:spPr>
          <a:xfrm>
            <a:off x="566928" y="3474720"/>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4" name="Image 2" descr="preencoded.png">    </p:cNvPr>
          <p:cNvPicPr>
            <a:picLocks noChangeAspect="1"/>
          </p:cNvPicPr>
          <p:nvPr/>
        </p:nvPicPr>
        <p:blipFill>
          <a:blip r:embed="rId3"/>
          <a:stretch>
            <a:fillRect/>
          </a:stretch>
        </p:blipFill>
        <p:spPr>
          <a:xfrm>
            <a:off x="698602" y="3606394"/>
            <a:ext cx="285293" cy="285293"/>
          </a:xfrm>
          <a:prstGeom prst="rect">
            <a:avLst/>
          </a:prstGeom>
        </p:spPr>
      </p:pic>
      <p:sp>
        <p:nvSpPr>
          <p:cNvPr id="15" name="Text 10"/>
          <p:cNvSpPr/>
          <p:nvPr/>
        </p:nvSpPr>
        <p:spPr>
          <a:xfrm>
            <a:off x="1325880" y="3456432"/>
            <a:ext cx="4114800" cy="292608"/>
          </a:xfrm>
          <a:prstGeom prst="rect">
            <a:avLst/>
          </a:prstGeom>
          <a:noFill/>
          <a:ln/>
        </p:spPr>
        <p:txBody>
          <a:bodyPr wrap="square" lIns="0" tIns="0" rIns="0" bIns="0" rtlCol="0" anchor="ctr"/>
          <a:lstStyle/>
          <a:p>
            <a:pPr indent="0" marL="0">
              <a:buNone/>
            </a:pPr>
            <a:r>
              <a:rPr lang="en-US" sz="1450" b="1" dirty="0">
                <a:solidFill>
                  <a:srgbClr val="FFFFFF"/>
                </a:solidFill>
                <a:latin typeface="Trebuchet MS" pitchFamily="34" charset="0"/>
                <a:ea typeface="Trebuchet MS" pitchFamily="34" charset="-122"/>
                <a:cs typeface="Trebuchet MS" pitchFamily="34" charset="-120"/>
              </a:rPr>
              <a:t>Latencia &lt; 1 s</a:t>
            </a:r>
            <a:endParaRPr lang="en-US" sz="1450" dirty="0"/>
          </a:p>
        </p:txBody>
      </p:sp>
      <p:sp>
        <p:nvSpPr>
          <p:cNvPr id="16" name="Text 11"/>
          <p:cNvSpPr/>
          <p:nvPr/>
        </p:nvSpPr>
        <p:spPr>
          <a:xfrm>
            <a:off x="1325880" y="3767328"/>
            <a:ext cx="4160520" cy="548640"/>
          </a:xfrm>
          <a:prstGeom prst="rect">
            <a:avLst/>
          </a:prstGeom>
          <a:noFill/>
          <a:ln/>
        </p:spPr>
        <p:txBody>
          <a:bodyPr wrap="square" lIns="0" tIns="0" rIns="0" bIns="0" rtlCol="0" anchor="ctr"/>
          <a:lstStyle/>
          <a:p>
            <a:pPr indent="0" marL="0">
              <a:buNone/>
            </a:pPr>
            <a:r>
              <a:rPr lang="en-US" sz="1200" dirty="0">
                <a:solidFill>
                  <a:srgbClr val="C9C4BC"/>
                </a:solidFill>
                <a:latin typeface="Calibri" pitchFamily="34" charset="0"/>
                <a:ea typeface="Calibri" pitchFamily="34" charset="-122"/>
                <a:cs typeface="Calibri" pitchFamily="34" charset="-120"/>
              </a:rPr>
              <a:t>Las actualizaciones llegan a los clientes suscritos en menos de un segundo.</a:t>
            </a:r>
            <a:endParaRPr lang="en-US" sz="1200" dirty="0"/>
          </a:p>
        </p:txBody>
      </p:sp>
      <p:sp>
        <p:nvSpPr>
          <p:cNvPr id="17" name="Shape 12"/>
          <p:cNvSpPr/>
          <p:nvPr/>
        </p:nvSpPr>
        <p:spPr>
          <a:xfrm>
            <a:off x="6336792" y="1307592"/>
            <a:ext cx="2459736" cy="3172968"/>
          </a:xfrm>
          <a:prstGeom prst="roundRect">
            <a:avLst>
              <a:gd name="adj" fmla="val 2974"/>
            </a:avLst>
          </a:prstGeom>
          <a:solidFill>
            <a:srgbClr val="FFFFFF"/>
          </a:solidFill>
          <a:ln w="12700">
            <a:solidFill>
              <a:srgbClr val="E7E2DA"/>
            </a:solidFill>
            <a:prstDash val="solid"/>
          </a:ln>
          <a:effectLst>
            <a:outerShdw sx="100000" sy="100000" kx="0" ky="0" algn="bl" rotWithShape="0" blurRad="88900" dist="38100" dir="8100000">
              <a:srgbClr val="000000">
                <a:alpha val="18000"/>
              </a:srgbClr>
            </a:outerShdw>
          </a:effectLst>
        </p:spPr>
      </p:sp>
      <p:pic>
        <p:nvPicPr>
          <p:cNvPr id="18" name="Image 3" descr="media/scoreboard.png">    </p:cNvPr>
          <p:cNvPicPr>
            <a:picLocks noChangeAspect="1"/>
          </p:cNvPicPr>
          <p:nvPr/>
        </p:nvPicPr>
        <p:blipFill>
          <a:blip r:embed="rId4"/>
          <a:stretch>
            <a:fillRect/>
          </a:stretch>
        </p:blipFill>
        <p:spPr>
          <a:xfrm>
            <a:off x="6400800" y="1371600"/>
            <a:ext cx="2331720" cy="304495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05 · DATOS A LA VISTA</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Estadísticas y exportaciones</a:t>
            </a:r>
            <a:endParaRPr lang="en-US" sz="2600" dirty="0"/>
          </a:p>
        </p:txBody>
      </p:sp>
      <p:sp>
        <p:nvSpPr>
          <p:cNvPr id="5" name="Shape 3"/>
          <p:cNvSpPr/>
          <p:nvPr/>
        </p:nvSpPr>
        <p:spPr>
          <a:xfrm>
            <a:off x="548640" y="1463040"/>
            <a:ext cx="5212080" cy="713232"/>
          </a:xfrm>
          <a:prstGeom prst="roundRect">
            <a:avLst>
              <a:gd name="adj" fmla="val 7692"/>
            </a:avLst>
          </a:prstGeom>
          <a:solidFill>
            <a:srgbClr val="F6F2EC"/>
          </a:solidFill>
          <a:ln w="12700">
            <a:solidFill>
              <a:srgbClr val="E7E2DA"/>
            </a:solidFill>
            <a:prstDash val="solid"/>
          </a:ln>
        </p:spPr>
      </p:sp>
      <p:sp>
        <p:nvSpPr>
          <p:cNvPr id="6" name="Shape 4"/>
          <p:cNvSpPr/>
          <p:nvPr/>
        </p:nvSpPr>
        <p:spPr>
          <a:xfrm>
            <a:off x="713232" y="1572768"/>
            <a:ext cx="475488" cy="47548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827349" y="1686885"/>
            <a:ext cx="247254" cy="247254"/>
          </a:xfrm>
          <a:prstGeom prst="rect">
            <a:avLst/>
          </a:prstGeom>
        </p:spPr>
      </p:pic>
      <p:sp>
        <p:nvSpPr>
          <p:cNvPr id="8" name="Text 5"/>
          <p:cNvSpPr/>
          <p:nvPr/>
        </p:nvSpPr>
        <p:spPr>
          <a:xfrm>
            <a:off x="1371600" y="1536192"/>
            <a:ext cx="4297680" cy="274320"/>
          </a:xfrm>
          <a:prstGeom prst="rect">
            <a:avLst/>
          </a:prstGeom>
          <a:noFill/>
          <a:ln/>
        </p:spPr>
        <p:txBody>
          <a:bodyPr wrap="square" lIns="0" tIns="0" rIns="0" bIns="0" rtlCol="0" anchor="ctr"/>
          <a:lstStyle/>
          <a:p>
            <a:pPr indent="0" marL="0">
              <a:buNone/>
            </a:pPr>
            <a:r>
              <a:rPr lang="en-US" sz="1300" b="1" dirty="0">
                <a:solidFill>
                  <a:srgbClr val="1F1F23"/>
                </a:solidFill>
                <a:latin typeface="Trebuchet MS" pitchFamily="34" charset="0"/>
                <a:ea typeface="Trebuchet MS" pitchFamily="34" charset="-122"/>
                <a:cs typeface="Trebuchet MS" pitchFamily="34" charset="-120"/>
              </a:rPr>
              <a:t>Rankings del campus</a:t>
            </a:r>
            <a:endParaRPr lang="en-US" sz="1300" dirty="0"/>
          </a:p>
        </p:txBody>
      </p:sp>
      <p:sp>
        <p:nvSpPr>
          <p:cNvPr id="9" name="Text 6"/>
          <p:cNvSpPr/>
          <p:nvPr/>
        </p:nvSpPr>
        <p:spPr>
          <a:xfrm>
            <a:off x="1371600" y="1810512"/>
            <a:ext cx="4297680" cy="329184"/>
          </a:xfrm>
          <a:prstGeom prst="rect">
            <a:avLst/>
          </a:prstGeom>
          <a:noFill/>
          <a:ln/>
        </p:spPr>
        <p:txBody>
          <a:bodyPr wrap="square" lIns="0" tIns="0" rIns="0" bIns="0" rtlCol="0" anchor="ctr"/>
          <a:lstStyle/>
          <a:p>
            <a:pPr indent="0" marL="0">
              <a:buNone/>
            </a:pPr>
            <a:r>
              <a:rPr lang="en-US" sz="1080" dirty="0">
                <a:solidFill>
                  <a:srgbClr val="6E6E73"/>
                </a:solidFill>
                <a:latin typeface="Calibri" pitchFamily="34" charset="0"/>
                <a:ea typeface="Calibri" pitchFamily="34" charset="-122"/>
                <a:cs typeface="Calibri" pitchFamily="34" charset="-120"/>
              </a:rPr>
              <a:t>Máximo anotador, reboteador, asistente y MVP, calculados automáticamente.</a:t>
            </a:r>
            <a:endParaRPr lang="en-US" sz="1080" dirty="0"/>
          </a:p>
        </p:txBody>
      </p:sp>
      <p:sp>
        <p:nvSpPr>
          <p:cNvPr id="10" name="Shape 7"/>
          <p:cNvSpPr/>
          <p:nvPr/>
        </p:nvSpPr>
        <p:spPr>
          <a:xfrm>
            <a:off x="548640" y="2258568"/>
            <a:ext cx="5212080" cy="713232"/>
          </a:xfrm>
          <a:prstGeom prst="roundRect">
            <a:avLst>
              <a:gd name="adj" fmla="val 7692"/>
            </a:avLst>
          </a:prstGeom>
          <a:solidFill>
            <a:srgbClr val="F6F2EC"/>
          </a:solidFill>
          <a:ln w="12700">
            <a:solidFill>
              <a:srgbClr val="E7E2DA"/>
            </a:solidFill>
            <a:prstDash val="solid"/>
          </a:ln>
        </p:spPr>
      </p:sp>
      <p:sp>
        <p:nvSpPr>
          <p:cNvPr id="11" name="Shape 8"/>
          <p:cNvSpPr/>
          <p:nvPr/>
        </p:nvSpPr>
        <p:spPr>
          <a:xfrm>
            <a:off x="713232" y="2368296"/>
            <a:ext cx="475488" cy="47548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2" name="Image 1" descr="preencoded.png">    </p:cNvPr>
          <p:cNvPicPr>
            <a:picLocks noChangeAspect="1"/>
          </p:cNvPicPr>
          <p:nvPr/>
        </p:nvPicPr>
        <p:blipFill>
          <a:blip r:embed="rId2"/>
          <a:stretch>
            <a:fillRect/>
          </a:stretch>
        </p:blipFill>
        <p:spPr>
          <a:xfrm>
            <a:off x="827349" y="2482413"/>
            <a:ext cx="247254" cy="247254"/>
          </a:xfrm>
          <a:prstGeom prst="rect">
            <a:avLst/>
          </a:prstGeom>
        </p:spPr>
      </p:pic>
      <p:sp>
        <p:nvSpPr>
          <p:cNvPr id="13" name="Text 9"/>
          <p:cNvSpPr/>
          <p:nvPr/>
        </p:nvSpPr>
        <p:spPr>
          <a:xfrm>
            <a:off x="1371600" y="2331720"/>
            <a:ext cx="4297680" cy="274320"/>
          </a:xfrm>
          <a:prstGeom prst="rect">
            <a:avLst/>
          </a:prstGeom>
          <a:noFill/>
          <a:ln/>
        </p:spPr>
        <p:txBody>
          <a:bodyPr wrap="square" lIns="0" tIns="0" rIns="0" bIns="0" rtlCol="0" anchor="ctr"/>
          <a:lstStyle/>
          <a:p>
            <a:pPr indent="0" marL="0">
              <a:buNone/>
            </a:pPr>
            <a:r>
              <a:rPr lang="en-US" sz="1300" b="1" dirty="0">
                <a:solidFill>
                  <a:srgbClr val="1F1F23"/>
                </a:solidFill>
                <a:latin typeface="Trebuchet MS" pitchFamily="34" charset="0"/>
                <a:ea typeface="Trebuchet MS" pitchFamily="34" charset="-122"/>
                <a:cs typeface="Trebuchet MS" pitchFamily="34" charset="-120"/>
              </a:rPr>
              <a:t>Dashboard de admin</a:t>
            </a:r>
            <a:endParaRPr lang="en-US" sz="1300" dirty="0"/>
          </a:p>
        </p:txBody>
      </p:sp>
      <p:sp>
        <p:nvSpPr>
          <p:cNvPr id="14" name="Text 10"/>
          <p:cNvSpPr/>
          <p:nvPr/>
        </p:nvSpPr>
        <p:spPr>
          <a:xfrm>
            <a:off x="1371600" y="2606040"/>
            <a:ext cx="4297680" cy="329184"/>
          </a:xfrm>
          <a:prstGeom prst="rect">
            <a:avLst/>
          </a:prstGeom>
          <a:noFill/>
          <a:ln/>
        </p:spPr>
        <p:txBody>
          <a:bodyPr wrap="square" lIns="0" tIns="0" rIns="0" bIns="0" rtlCol="0" anchor="ctr"/>
          <a:lstStyle/>
          <a:p>
            <a:pPr indent="0" marL="0">
              <a:buNone/>
            </a:pPr>
            <a:r>
              <a:rPr lang="en-US" sz="1080" dirty="0">
                <a:solidFill>
                  <a:srgbClr val="6E6E73"/>
                </a:solidFill>
                <a:latin typeface="Calibri" pitchFamily="34" charset="0"/>
                <a:ea typeface="Calibri" pitchFamily="34" charset="-122"/>
                <a:cs typeface="Calibri" pitchFamily="34" charset="-120"/>
              </a:rPr>
              <a:t>Visión global del campus de un vistazo: personas, competiciones y comunidad.</a:t>
            </a:r>
            <a:endParaRPr lang="en-US" sz="1080" dirty="0"/>
          </a:p>
        </p:txBody>
      </p:sp>
      <p:sp>
        <p:nvSpPr>
          <p:cNvPr id="15" name="Shape 11"/>
          <p:cNvSpPr/>
          <p:nvPr/>
        </p:nvSpPr>
        <p:spPr>
          <a:xfrm>
            <a:off x="548640" y="3054096"/>
            <a:ext cx="5212080" cy="713232"/>
          </a:xfrm>
          <a:prstGeom prst="roundRect">
            <a:avLst>
              <a:gd name="adj" fmla="val 7692"/>
            </a:avLst>
          </a:prstGeom>
          <a:solidFill>
            <a:srgbClr val="F6F2EC"/>
          </a:solidFill>
          <a:ln w="12700">
            <a:solidFill>
              <a:srgbClr val="E7E2DA"/>
            </a:solidFill>
            <a:prstDash val="solid"/>
          </a:ln>
        </p:spPr>
      </p:sp>
      <p:sp>
        <p:nvSpPr>
          <p:cNvPr id="16" name="Shape 12"/>
          <p:cNvSpPr/>
          <p:nvPr/>
        </p:nvSpPr>
        <p:spPr>
          <a:xfrm>
            <a:off x="713232" y="3163824"/>
            <a:ext cx="475488" cy="47548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7" name="Image 2" descr="preencoded.png">    </p:cNvPr>
          <p:cNvPicPr>
            <a:picLocks noChangeAspect="1"/>
          </p:cNvPicPr>
          <p:nvPr/>
        </p:nvPicPr>
        <p:blipFill>
          <a:blip r:embed="rId3"/>
          <a:stretch>
            <a:fillRect/>
          </a:stretch>
        </p:blipFill>
        <p:spPr>
          <a:xfrm>
            <a:off x="827349" y="3277941"/>
            <a:ext cx="247254" cy="247254"/>
          </a:xfrm>
          <a:prstGeom prst="rect">
            <a:avLst/>
          </a:prstGeom>
        </p:spPr>
      </p:pic>
      <p:sp>
        <p:nvSpPr>
          <p:cNvPr id="18" name="Text 13"/>
          <p:cNvSpPr/>
          <p:nvPr/>
        </p:nvSpPr>
        <p:spPr>
          <a:xfrm>
            <a:off x="1371600" y="3127248"/>
            <a:ext cx="4297680" cy="274320"/>
          </a:xfrm>
          <a:prstGeom prst="rect">
            <a:avLst/>
          </a:prstGeom>
          <a:noFill/>
          <a:ln/>
        </p:spPr>
        <p:txBody>
          <a:bodyPr wrap="square" lIns="0" tIns="0" rIns="0" bIns="0" rtlCol="0" anchor="ctr"/>
          <a:lstStyle/>
          <a:p>
            <a:pPr indent="0" marL="0">
              <a:buNone/>
            </a:pPr>
            <a:r>
              <a:rPr lang="en-US" sz="1300" b="1" dirty="0">
                <a:solidFill>
                  <a:srgbClr val="1F1F23"/>
                </a:solidFill>
                <a:latin typeface="Trebuchet MS" pitchFamily="34" charset="0"/>
                <a:ea typeface="Trebuchet MS" pitchFamily="34" charset="-122"/>
                <a:cs typeface="Trebuchet MS" pitchFamily="34" charset="-120"/>
              </a:rPr>
              <a:t>Exportación a PDF</a:t>
            </a:r>
            <a:endParaRPr lang="en-US" sz="1300" dirty="0"/>
          </a:p>
        </p:txBody>
      </p:sp>
      <p:sp>
        <p:nvSpPr>
          <p:cNvPr id="19" name="Text 14"/>
          <p:cNvSpPr/>
          <p:nvPr/>
        </p:nvSpPr>
        <p:spPr>
          <a:xfrm>
            <a:off x="1371600" y="3401568"/>
            <a:ext cx="4297680" cy="329184"/>
          </a:xfrm>
          <a:prstGeom prst="rect">
            <a:avLst/>
          </a:prstGeom>
          <a:noFill/>
          <a:ln/>
        </p:spPr>
        <p:txBody>
          <a:bodyPr wrap="square" lIns="0" tIns="0" rIns="0" bIns="0" rtlCol="0" anchor="ctr"/>
          <a:lstStyle/>
          <a:p>
            <a:pPr indent="0" marL="0">
              <a:buNone/>
            </a:pPr>
            <a:r>
              <a:rPr lang="en-US" sz="1080" dirty="0">
                <a:solidFill>
                  <a:srgbClr val="6E6E73"/>
                </a:solidFill>
                <a:latin typeface="Calibri" pitchFamily="34" charset="0"/>
                <a:ea typeface="Calibri" pitchFamily="34" charset="-122"/>
                <a:cs typeface="Calibri" pitchFamily="34" charset="-120"/>
              </a:rPr>
              <a:t>Clasificaciones y cuadros de las competiciones de siesta, listos para imprimir.</a:t>
            </a:r>
            <a:endParaRPr lang="en-US" sz="1080" dirty="0"/>
          </a:p>
        </p:txBody>
      </p:sp>
      <p:sp>
        <p:nvSpPr>
          <p:cNvPr id="20" name="Shape 15"/>
          <p:cNvSpPr/>
          <p:nvPr/>
        </p:nvSpPr>
        <p:spPr>
          <a:xfrm>
            <a:off x="548640" y="3849624"/>
            <a:ext cx="5212080" cy="713232"/>
          </a:xfrm>
          <a:prstGeom prst="roundRect">
            <a:avLst>
              <a:gd name="adj" fmla="val 7692"/>
            </a:avLst>
          </a:prstGeom>
          <a:solidFill>
            <a:srgbClr val="F6F2EC"/>
          </a:solidFill>
          <a:ln w="12700">
            <a:solidFill>
              <a:srgbClr val="E7E2DA"/>
            </a:solidFill>
            <a:prstDash val="solid"/>
          </a:ln>
        </p:spPr>
      </p:sp>
      <p:sp>
        <p:nvSpPr>
          <p:cNvPr id="21" name="Shape 16"/>
          <p:cNvSpPr/>
          <p:nvPr/>
        </p:nvSpPr>
        <p:spPr>
          <a:xfrm>
            <a:off x="713232" y="3959352"/>
            <a:ext cx="475488" cy="475488"/>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22" name="Image 3" descr="preencoded.png">    </p:cNvPr>
          <p:cNvPicPr>
            <a:picLocks noChangeAspect="1"/>
          </p:cNvPicPr>
          <p:nvPr/>
        </p:nvPicPr>
        <p:blipFill>
          <a:blip r:embed="rId4"/>
          <a:stretch>
            <a:fillRect/>
          </a:stretch>
        </p:blipFill>
        <p:spPr>
          <a:xfrm>
            <a:off x="827349" y="4073469"/>
            <a:ext cx="247254" cy="247254"/>
          </a:xfrm>
          <a:prstGeom prst="rect">
            <a:avLst/>
          </a:prstGeom>
        </p:spPr>
      </p:pic>
      <p:sp>
        <p:nvSpPr>
          <p:cNvPr id="23" name="Text 17"/>
          <p:cNvSpPr/>
          <p:nvPr/>
        </p:nvSpPr>
        <p:spPr>
          <a:xfrm>
            <a:off x="1371600" y="3922776"/>
            <a:ext cx="4297680" cy="274320"/>
          </a:xfrm>
          <a:prstGeom prst="rect">
            <a:avLst/>
          </a:prstGeom>
          <a:noFill/>
          <a:ln/>
        </p:spPr>
        <p:txBody>
          <a:bodyPr wrap="square" lIns="0" tIns="0" rIns="0" bIns="0" rtlCol="0" anchor="ctr"/>
          <a:lstStyle/>
          <a:p>
            <a:pPr indent="0" marL="0">
              <a:buNone/>
            </a:pPr>
            <a:r>
              <a:rPr lang="en-US" sz="1300" b="1" dirty="0">
                <a:solidFill>
                  <a:srgbClr val="1F1F23"/>
                </a:solidFill>
                <a:latin typeface="Trebuchet MS" pitchFamily="34" charset="0"/>
                <a:ea typeface="Trebuchet MS" pitchFamily="34" charset="-122"/>
                <a:cs typeface="Trebuchet MS" pitchFamily="34" charset="-120"/>
              </a:rPr>
              <a:t>Exportación a Excel</a:t>
            </a:r>
            <a:endParaRPr lang="en-US" sz="1300" dirty="0"/>
          </a:p>
        </p:txBody>
      </p:sp>
      <p:sp>
        <p:nvSpPr>
          <p:cNvPr id="24" name="Text 18"/>
          <p:cNvSpPr/>
          <p:nvPr/>
        </p:nvSpPr>
        <p:spPr>
          <a:xfrm>
            <a:off x="1371600" y="4197096"/>
            <a:ext cx="4297680" cy="329184"/>
          </a:xfrm>
          <a:prstGeom prst="rect">
            <a:avLst/>
          </a:prstGeom>
          <a:noFill/>
          <a:ln/>
        </p:spPr>
        <p:txBody>
          <a:bodyPr wrap="square" lIns="0" tIns="0" rIns="0" bIns="0" rtlCol="0" anchor="ctr"/>
          <a:lstStyle/>
          <a:p>
            <a:pPr indent="0" marL="0">
              <a:buNone/>
            </a:pPr>
            <a:r>
              <a:rPr lang="en-US" sz="1080" dirty="0">
                <a:solidFill>
                  <a:srgbClr val="6E6E73"/>
                </a:solidFill>
                <a:latin typeface="Calibri" pitchFamily="34" charset="0"/>
                <a:ea typeface="Calibri" pitchFamily="34" charset="-122"/>
                <a:cs typeface="Calibri" pitchFamily="34" charset="-120"/>
              </a:rPr>
              <a:t>Clasificación por estaciones, una hoja por grupo y puntuaciones por jornada.</a:t>
            </a:r>
            <a:endParaRPr lang="en-US" sz="1080" dirty="0"/>
          </a:p>
        </p:txBody>
      </p:sp>
      <p:sp>
        <p:nvSpPr>
          <p:cNvPr id="25" name="Shape 19"/>
          <p:cNvSpPr/>
          <p:nvPr/>
        </p:nvSpPr>
        <p:spPr>
          <a:xfrm>
            <a:off x="6199632" y="1353312"/>
            <a:ext cx="2596896" cy="3191256"/>
          </a:xfrm>
          <a:prstGeom prst="roundRect">
            <a:avLst>
              <a:gd name="adj" fmla="val 2817"/>
            </a:avLst>
          </a:prstGeom>
          <a:solidFill>
            <a:srgbClr val="FFFFFF"/>
          </a:solidFill>
          <a:ln w="12700">
            <a:solidFill>
              <a:srgbClr val="E7E2DA"/>
            </a:solidFill>
            <a:prstDash val="solid"/>
          </a:ln>
          <a:effectLst>
            <a:outerShdw sx="100000" sy="100000" kx="0" ky="0" algn="bl" rotWithShape="0" blurRad="88900" dist="38100" dir="8100000">
              <a:srgbClr val="000000">
                <a:alpha val="18000"/>
              </a:srgbClr>
            </a:outerShdw>
          </a:effectLst>
        </p:spPr>
      </p:sp>
      <p:pic>
        <p:nvPicPr>
          <p:cNvPr id="26" name="Image 4" descr="media/dashboard.png">    </p:cNvPr>
          <p:cNvPicPr>
            <a:picLocks noChangeAspect="1"/>
          </p:cNvPicPr>
          <p:nvPr/>
        </p:nvPicPr>
        <p:blipFill>
          <a:blip r:embed="rId5"/>
          <a:stretch>
            <a:fillRect/>
          </a:stretch>
        </p:blipFill>
        <p:spPr>
          <a:xfrm>
            <a:off x="6263640" y="1417320"/>
            <a:ext cx="2468880" cy="30632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DEMOSTRACIÓN</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La app, en producción</a:t>
            </a:r>
            <a:endParaRPr lang="en-US" sz="2600" dirty="0"/>
          </a:p>
        </p:txBody>
      </p:sp>
      <p:sp>
        <p:nvSpPr>
          <p:cNvPr id="5" name="Shape 3"/>
          <p:cNvSpPr/>
          <p:nvPr/>
        </p:nvSpPr>
        <p:spPr>
          <a:xfrm>
            <a:off x="877824" y="1234440"/>
            <a:ext cx="2212848" cy="2825496"/>
          </a:xfrm>
          <a:prstGeom prst="roundRect">
            <a:avLst>
              <a:gd name="adj" fmla="val 3306"/>
            </a:avLst>
          </a:prstGeom>
          <a:solidFill>
            <a:srgbClr val="FFFFFF"/>
          </a:solidFill>
          <a:ln w="12700">
            <a:solidFill>
              <a:srgbClr val="E7E2DA"/>
            </a:solidFill>
            <a:prstDash val="solid"/>
          </a:ln>
          <a:effectLst>
            <a:outerShdw sx="100000" sy="100000" kx="0" ky="0" algn="bl" rotWithShape="0" blurRad="88900" dist="38100" dir="8100000">
              <a:srgbClr val="000000">
                <a:alpha val="18000"/>
              </a:srgbClr>
            </a:outerShdw>
          </a:effectLst>
        </p:spPr>
      </p:sp>
      <p:pic>
        <p:nvPicPr>
          <p:cNvPr id="6" name="Image 0" descr="media/scoreboard.png">    </p:cNvPr>
          <p:cNvPicPr>
            <a:picLocks noChangeAspect="1"/>
          </p:cNvPicPr>
          <p:nvPr/>
        </p:nvPicPr>
        <p:blipFill>
          <a:blip r:embed="rId1"/>
          <a:stretch>
            <a:fillRect/>
          </a:stretch>
        </p:blipFill>
        <p:spPr>
          <a:xfrm>
            <a:off x="941832" y="1298448"/>
            <a:ext cx="2084832" cy="2697480"/>
          </a:xfrm>
          <a:prstGeom prst="rect">
            <a:avLst/>
          </a:prstGeom>
        </p:spPr>
      </p:pic>
      <p:sp>
        <p:nvSpPr>
          <p:cNvPr id="7" name="Text 4"/>
          <p:cNvSpPr/>
          <p:nvPr/>
        </p:nvSpPr>
        <p:spPr>
          <a:xfrm>
            <a:off x="804672" y="4123944"/>
            <a:ext cx="2359152" cy="274320"/>
          </a:xfrm>
          <a:prstGeom prst="rect">
            <a:avLst/>
          </a:prstGeom>
          <a:noFill/>
          <a:ln/>
        </p:spPr>
        <p:txBody>
          <a:bodyPr wrap="square" lIns="0" tIns="0" rIns="0" bIns="0" rtlCol="0" anchor="ctr"/>
          <a:lstStyle/>
          <a:p>
            <a:pPr algn="ctr" indent="0" marL="0">
              <a:buNone/>
            </a:pPr>
            <a:r>
              <a:rPr lang="en-US" sz="1200" b="1" dirty="0">
                <a:solidFill>
                  <a:srgbClr val="1F1F23"/>
                </a:solidFill>
                <a:latin typeface="Trebuchet MS" pitchFamily="34" charset="0"/>
                <a:ea typeface="Trebuchet MS" pitchFamily="34" charset="-122"/>
                <a:cs typeface="Trebuchet MS" pitchFamily="34" charset="-120"/>
              </a:rPr>
              <a:t>Marcador en directo</a:t>
            </a:r>
            <a:endParaRPr lang="en-US" sz="1200" dirty="0"/>
          </a:p>
        </p:txBody>
      </p:sp>
      <p:sp>
        <p:nvSpPr>
          <p:cNvPr id="8" name="Shape 5"/>
          <p:cNvSpPr/>
          <p:nvPr/>
        </p:nvSpPr>
        <p:spPr>
          <a:xfrm>
            <a:off x="3465576" y="1234440"/>
            <a:ext cx="2212848" cy="2825496"/>
          </a:xfrm>
          <a:prstGeom prst="roundRect">
            <a:avLst>
              <a:gd name="adj" fmla="val 3306"/>
            </a:avLst>
          </a:prstGeom>
          <a:solidFill>
            <a:srgbClr val="FFFFFF"/>
          </a:solidFill>
          <a:ln w="12700">
            <a:solidFill>
              <a:srgbClr val="E7E2DA"/>
            </a:solidFill>
            <a:prstDash val="solid"/>
          </a:ln>
          <a:effectLst>
            <a:outerShdw sx="100000" sy="100000" kx="0" ky="0" algn="bl" rotWithShape="0" blurRad="88900" dist="38100" dir="8100000">
              <a:srgbClr val="000000">
                <a:alpha val="18000"/>
              </a:srgbClr>
            </a:outerShdw>
          </a:effectLst>
        </p:spPr>
      </p:sp>
      <p:pic>
        <p:nvPicPr>
          <p:cNvPr id="9" name="Image 1" descr="media/rankings.png">    </p:cNvPr>
          <p:cNvPicPr>
            <a:picLocks noChangeAspect="1"/>
          </p:cNvPicPr>
          <p:nvPr/>
        </p:nvPicPr>
        <p:blipFill>
          <a:blip r:embed="rId2"/>
          <a:stretch>
            <a:fillRect/>
          </a:stretch>
        </p:blipFill>
        <p:spPr>
          <a:xfrm>
            <a:off x="3529584" y="1298448"/>
            <a:ext cx="2084832" cy="2697480"/>
          </a:xfrm>
          <a:prstGeom prst="rect">
            <a:avLst/>
          </a:prstGeom>
        </p:spPr>
      </p:pic>
      <p:sp>
        <p:nvSpPr>
          <p:cNvPr id="10" name="Text 6"/>
          <p:cNvSpPr/>
          <p:nvPr/>
        </p:nvSpPr>
        <p:spPr>
          <a:xfrm>
            <a:off x="3392424" y="4123944"/>
            <a:ext cx="2359152" cy="274320"/>
          </a:xfrm>
          <a:prstGeom prst="rect">
            <a:avLst/>
          </a:prstGeom>
          <a:noFill/>
          <a:ln/>
        </p:spPr>
        <p:txBody>
          <a:bodyPr wrap="square" lIns="0" tIns="0" rIns="0" bIns="0" rtlCol="0" anchor="ctr"/>
          <a:lstStyle/>
          <a:p>
            <a:pPr algn="ctr" indent="0" marL="0">
              <a:buNone/>
            </a:pPr>
            <a:r>
              <a:rPr lang="en-US" sz="1200" b="1" dirty="0">
                <a:solidFill>
                  <a:srgbClr val="1F1F23"/>
                </a:solidFill>
                <a:latin typeface="Trebuchet MS" pitchFamily="34" charset="0"/>
                <a:ea typeface="Trebuchet MS" pitchFamily="34" charset="-122"/>
                <a:cs typeface="Trebuchet MS" pitchFamily="34" charset="-120"/>
              </a:rPr>
              <a:t>Rankings del campus</a:t>
            </a:r>
            <a:endParaRPr lang="en-US" sz="1200" dirty="0"/>
          </a:p>
        </p:txBody>
      </p:sp>
      <p:sp>
        <p:nvSpPr>
          <p:cNvPr id="11" name="Shape 7"/>
          <p:cNvSpPr/>
          <p:nvPr/>
        </p:nvSpPr>
        <p:spPr>
          <a:xfrm>
            <a:off x="6053328" y="1234440"/>
            <a:ext cx="2212848" cy="2825496"/>
          </a:xfrm>
          <a:prstGeom prst="roundRect">
            <a:avLst>
              <a:gd name="adj" fmla="val 3306"/>
            </a:avLst>
          </a:prstGeom>
          <a:solidFill>
            <a:srgbClr val="FFFFFF"/>
          </a:solidFill>
          <a:ln w="12700">
            <a:solidFill>
              <a:srgbClr val="E7E2DA"/>
            </a:solidFill>
            <a:prstDash val="solid"/>
          </a:ln>
          <a:effectLst>
            <a:outerShdw sx="100000" sy="100000" kx="0" ky="0" algn="bl" rotWithShape="0" blurRad="88900" dist="38100" dir="8100000">
              <a:srgbClr val="000000">
                <a:alpha val="18000"/>
              </a:srgbClr>
            </a:outerShdw>
          </a:effectLst>
        </p:spPr>
      </p:sp>
      <p:pic>
        <p:nvPicPr>
          <p:cNvPr id="12" name="Image 2" descr="media/bracket.png">    </p:cNvPr>
          <p:cNvPicPr>
            <a:picLocks noChangeAspect="1"/>
          </p:cNvPicPr>
          <p:nvPr/>
        </p:nvPicPr>
        <p:blipFill>
          <a:blip r:embed="rId3"/>
          <a:stretch>
            <a:fillRect/>
          </a:stretch>
        </p:blipFill>
        <p:spPr>
          <a:xfrm>
            <a:off x="6117336" y="1298448"/>
            <a:ext cx="2084832" cy="2697480"/>
          </a:xfrm>
          <a:prstGeom prst="rect">
            <a:avLst/>
          </a:prstGeom>
        </p:spPr>
      </p:pic>
      <p:sp>
        <p:nvSpPr>
          <p:cNvPr id="13" name="Text 8"/>
          <p:cNvSpPr/>
          <p:nvPr/>
        </p:nvSpPr>
        <p:spPr>
          <a:xfrm>
            <a:off x="5980176" y="4123944"/>
            <a:ext cx="2359152" cy="274320"/>
          </a:xfrm>
          <a:prstGeom prst="rect">
            <a:avLst/>
          </a:prstGeom>
          <a:noFill/>
          <a:ln/>
        </p:spPr>
        <p:txBody>
          <a:bodyPr wrap="square" lIns="0" tIns="0" rIns="0" bIns="0" rtlCol="0" anchor="ctr"/>
          <a:lstStyle/>
          <a:p>
            <a:pPr algn="ctr" indent="0" marL="0">
              <a:buNone/>
            </a:pPr>
            <a:r>
              <a:rPr lang="en-US" sz="1200" b="1" dirty="0">
                <a:solidFill>
                  <a:srgbClr val="1F1F23"/>
                </a:solidFill>
                <a:latin typeface="Trebuchet MS" pitchFamily="34" charset="0"/>
                <a:ea typeface="Trebuchet MS" pitchFamily="34" charset="-122"/>
                <a:cs typeface="Trebuchet MS" pitchFamily="34" charset="-120"/>
              </a:rPr>
              <a:t>Competición de siesta</a:t>
            </a:r>
            <a:endParaRPr lang="en-US" sz="1200" dirty="0"/>
          </a:p>
        </p:txBody>
      </p:sp>
      <p:sp>
        <p:nvSpPr>
          <p:cNvPr id="14" name="Shape 9"/>
          <p:cNvSpPr/>
          <p:nvPr/>
        </p:nvSpPr>
        <p:spPr>
          <a:xfrm>
            <a:off x="1691640" y="4645152"/>
            <a:ext cx="5760720" cy="365760"/>
          </a:xfrm>
          <a:prstGeom prst="roundRect">
            <a:avLst>
              <a:gd name="adj" fmla="val 50000"/>
            </a:avLst>
          </a:prstGeom>
          <a:solidFill>
            <a:srgbClr val="17171A"/>
          </a:solidFill>
          <a:ln/>
        </p:spPr>
      </p:sp>
      <p:sp>
        <p:nvSpPr>
          <p:cNvPr id="15" name="Text 10"/>
          <p:cNvSpPr/>
          <p:nvPr/>
        </p:nvSpPr>
        <p:spPr>
          <a:xfrm>
            <a:off x="1691640" y="4645152"/>
            <a:ext cx="5760720" cy="365760"/>
          </a:xfrm>
          <a:prstGeom prst="rect">
            <a:avLst/>
          </a:prstGeom>
          <a:noFill/>
          <a:ln/>
        </p:spPr>
        <p:txBody>
          <a:bodyPr wrap="square" lIns="0" tIns="0" rIns="0" bIns="0" rtlCol="0" anchor="ctr"/>
          <a:lstStyle/>
          <a:p>
            <a:pPr algn="ctr" indent="0" marL="0">
              <a:buNone/>
            </a:pPr>
            <a:r>
              <a:rPr lang="en-US" sz="1250" b="1" dirty="0">
                <a:solidFill>
                  <a:srgbClr val="F4A259"/>
                </a:solidFill>
                <a:latin typeface="Calibri" pitchFamily="34" charset="0"/>
                <a:ea typeface="Calibri" pitchFamily="34" charset="-122"/>
                <a:cs typeface="Calibri" pitchFamily="34" charset="-120"/>
              </a:rPr>
              <a:t>● EN VIVO   </a:t>
            </a:r>
            <a:pPr algn="ctr" indent="0" marL="0">
              <a:buNone/>
            </a:pPr>
            <a:r>
              <a:rPr lang="en-US" sz="1250" dirty="0">
                <a:solidFill>
                  <a:srgbClr val="FFFFFF"/>
                </a:solidFill>
                <a:latin typeface="Calibri" pitchFamily="34" charset="0"/>
                <a:ea typeface="Calibri" pitchFamily="34" charset="-122"/>
                <a:cs typeface="Calibri" pitchFamily="34" charset="-120"/>
              </a:rPr>
              <a:t>campus-baloncesto.web.app</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06 · CALIDAD</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Pruebas</a:t>
            </a:r>
            <a:endParaRPr lang="en-US" sz="2600" dirty="0"/>
          </a:p>
        </p:txBody>
      </p:sp>
      <p:sp>
        <p:nvSpPr>
          <p:cNvPr id="5" name="Shape 3"/>
          <p:cNvSpPr/>
          <p:nvPr/>
        </p:nvSpPr>
        <p:spPr>
          <a:xfrm>
            <a:off x="548640" y="1481328"/>
            <a:ext cx="8046720" cy="960120"/>
          </a:xfrm>
          <a:prstGeom prst="roundRect">
            <a:avLst>
              <a:gd name="adj" fmla="val 5714"/>
            </a:avLst>
          </a:prstGeom>
          <a:solidFill>
            <a:srgbClr val="F6F2EC"/>
          </a:solidFill>
          <a:ln w="12700">
            <a:solidFill>
              <a:srgbClr val="E7E2DA"/>
            </a:solidFill>
            <a:prstDash val="solid"/>
          </a:ln>
        </p:spPr>
      </p:sp>
      <p:sp>
        <p:nvSpPr>
          <p:cNvPr id="6" name="Shape 4"/>
          <p:cNvSpPr/>
          <p:nvPr/>
        </p:nvSpPr>
        <p:spPr>
          <a:xfrm>
            <a:off x="749808" y="1687068"/>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7" name="Image 0" descr="preencoded.png">    </p:cNvPr>
          <p:cNvPicPr>
            <a:picLocks noChangeAspect="1"/>
          </p:cNvPicPr>
          <p:nvPr/>
        </p:nvPicPr>
        <p:blipFill>
          <a:blip r:embed="rId1"/>
          <a:stretch>
            <a:fillRect/>
          </a:stretch>
        </p:blipFill>
        <p:spPr>
          <a:xfrm>
            <a:off x="881482" y="1818742"/>
            <a:ext cx="285293" cy="285293"/>
          </a:xfrm>
          <a:prstGeom prst="rect">
            <a:avLst/>
          </a:prstGeom>
        </p:spPr>
      </p:pic>
      <p:sp>
        <p:nvSpPr>
          <p:cNvPr id="8" name="Text 5"/>
          <p:cNvSpPr/>
          <p:nvPr/>
        </p:nvSpPr>
        <p:spPr>
          <a:xfrm>
            <a:off x="1508760" y="1600200"/>
            <a:ext cx="6858000" cy="320040"/>
          </a:xfrm>
          <a:prstGeom prst="rect">
            <a:avLst/>
          </a:prstGeom>
          <a:noFill/>
          <a:ln/>
        </p:spPr>
        <p:txBody>
          <a:bodyPr wrap="square" lIns="0" tIns="0" rIns="0" bIns="0" rtlCol="0" anchor="ctr"/>
          <a:lstStyle/>
          <a:p>
            <a:pPr indent="0" marL="0">
              <a:buNone/>
            </a:pPr>
            <a:r>
              <a:rPr lang="en-US" sz="1400" b="1" dirty="0">
                <a:solidFill>
                  <a:srgbClr val="1F1F23"/>
                </a:solidFill>
                <a:latin typeface="Trebuchet MS" pitchFamily="34" charset="0"/>
                <a:ea typeface="Trebuchet MS" pitchFamily="34" charset="-122"/>
                <a:cs typeface="Trebuchet MS" pitchFamily="34" charset="-120"/>
              </a:rPr>
              <a:t>Pruebas manuales e incrementales</a:t>
            </a:r>
            <a:endParaRPr lang="en-US" sz="1400" dirty="0"/>
          </a:p>
        </p:txBody>
      </p:sp>
      <p:sp>
        <p:nvSpPr>
          <p:cNvPr id="9" name="Text 6"/>
          <p:cNvSpPr/>
          <p:nvPr/>
        </p:nvSpPr>
        <p:spPr>
          <a:xfrm>
            <a:off x="1508760" y="1938528"/>
            <a:ext cx="6949440" cy="457200"/>
          </a:xfrm>
          <a:prstGeom prst="rect">
            <a:avLst/>
          </a:prstGeom>
          <a:noFill/>
          <a:ln/>
        </p:spPr>
        <p:txBody>
          <a:bodyPr wrap="square" lIns="0" tIns="0" rIns="0" bIns="0" rtlCol="0" anchor="ctr"/>
          <a:lstStyle/>
          <a:p>
            <a:pPr indent="0" marL="0">
              <a:buNone/>
            </a:pPr>
            <a:r>
              <a:rPr lang="en-US" sz="1200" dirty="0">
                <a:solidFill>
                  <a:srgbClr val="6E6E73"/>
                </a:solidFill>
                <a:latin typeface="Calibri" pitchFamily="34" charset="0"/>
                <a:ea typeface="Calibri" pitchFamily="34" charset="-122"/>
                <a:cs typeface="Calibri" pitchFamily="34" charset="-120"/>
              </a:rPr>
              <a:t>Al terminar cada funcionalidad se probaba metiendo datos y navegando por las pantallas para validar el comportamiento.</a:t>
            </a:r>
            <a:endParaRPr lang="en-US" sz="1200" dirty="0"/>
          </a:p>
        </p:txBody>
      </p:sp>
      <p:sp>
        <p:nvSpPr>
          <p:cNvPr id="10" name="Shape 7"/>
          <p:cNvSpPr/>
          <p:nvPr/>
        </p:nvSpPr>
        <p:spPr>
          <a:xfrm>
            <a:off x="548640" y="2542032"/>
            <a:ext cx="8046720" cy="960120"/>
          </a:xfrm>
          <a:prstGeom prst="roundRect">
            <a:avLst>
              <a:gd name="adj" fmla="val 5714"/>
            </a:avLst>
          </a:prstGeom>
          <a:solidFill>
            <a:srgbClr val="F6F2EC"/>
          </a:solidFill>
          <a:ln w="12700">
            <a:solidFill>
              <a:srgbClr val="E7E2DA"/>
            </a:solidFill>
            <a:prstDash val="solid"/>
          </a:ln>
        </p:spPr>
      </p:sp>
      <p:sp>
        <p:nvSpPr>
          <p:cNvPr id="11" name="Shape 8"/>
          <p:cNvSpPr/>
          <p:nvPr/>
        </p:nvSpPr>
        <p:spPr>
          <a:xfrm>
            <a:off x="749808" y="2747772"/>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2" name="Image 1" descr="preencoded.png">    </p:cNvPr>
          <p:cNvPicPr>
            <a:picLocks noChangeAspect="1"/>
          </p:cNvPicPr>
          <p:nvPr/>
        </p:nvPicPr>
        <p:blipFill>
          <a:blip r:embed="rId2"/>
          <a:stretch>
            <a:fillRect/>
          </a:stretch>
        </p:blipFill>
        <p:spPr>
          <a:xfrm>
            <a:off x="881482" y="2879446"/>
            <a:ext cx="285293" cy="285293"/>
          </a:xfrm>
          <a:prstGeom prst="rect">
            <a:avLst/>
          </a:prstGeom>
        </p:spPr>
      </p:pic>
      <p:sp>
        <p:nvSpPr>
          <p:cNvPr id="13" name="Text 9"/>
          <p:cNvSpPr/>
          <p:nvPr/>
        </p:nvSpPr>
        <p:spPr>
          <a:xfrm>
            <a:off x="1508760" y="2660904"/>
            <a:ext cx="6858000" cy="320040"/>
          </a:xfrm>
          <a:prstGeom prst="rect">
            <a:avLst/>
          </a:prstGeom>
          <a:noFill/>
          <a:ln/>
        </p:spPr>
        <p:txBody>
          <a:bodyPr wrap="square" lIns="0" tIns="0" rIns="0" bIns="0" rtlCol="0" anchor="ctr"/>
          <a:lstStyle/>
          <a:p>
            <a:pPr indent="0" marL="0">
              <a:buNone/>
            </a:pPr>
            <a:r>
              <a:rPr lang="en-US" sz="1400" b="1" dirty="0">
                <a:solidFill>
                  <a:srgbClr val="1F1F23"/>
                </a:solidFill>
                <a:latin typeface="Trebuchet MS" pitchFamily="34" charset="0"/>
                <a:ea typeface="Trebuchet MS" pitchFamily="34" charset="-122"/>
                <a:cs typeface="Trebuchet MS" pitchFamily="34" charset="-120"/>
              </a:rPr>
              <a:t>Pruebas beta con entrenadores</a:t>
            </a:r>
            <a:endParaRPr lang="en-US" sz="1400" dirty="0"/>
          </a:p>
        </p:txBody>
      </p:sp>
      <p:sp>
        <p:nvSpPr>
          <p:cNvPr id="14" name="Text 10"/>
          <p:cNvSpPr/>
          <p:nvPr/>
        </p:nvSpPr>
        <p:spPr>
          <a:xfrm>
            <a:off x="1508760" y="2999232"/>
            <a:ext cx="6949440" cy="457200"/>
          </a:xfrm>
          <a:prstGeom prst="rect">
            <a:avLst/>
          </a:prstGeom>
          <a:noFill/>
          <a:ln/>
        </p:spPr>
        <p:txBody>
          <a:bodyPr wrap="square" lIns="0" tIns="0" rIns="0" bIns="0" rtlCol="0" anchor="ctr"/>
          <a:lstStyle/>
          <a:p>
            <a:pPr indent="0" marL="0">
              <a:buNone/>
            </a:pPr>
            <a:r>
              <a:rPr lang="en-US" sz="1200" dirty="0">
                <a:solidFill>
                  <a:srgbClr val="6E6E73"/>
                </a:solidFill>
                <a:latin typeface="Calibri" pitchFamily="34" charset="0"/>
                <a:ea typeface="Calibri" pitchFamily="34" charset="-122"/>
                <a:cs typeface="Calibri" pitchFamily="34" charset="-120"/>
              </a:rPr>
              <a:t>Otros entrenadores usaron la app con libertad y destaparon fallos que se me escapaban por conocerla demasiado.</a:t>
            </a:r>
            <a:endParaRPr lang="en-US" sz="1200" dirty="0"/>
          </a:p>
        </p:txBody>
      </p:sp>
      <p:sp>
        <p:nvSpPr>
          <p:cNvPr id="15" name="Shape 11"/>
          <p:cNvSpPr/>
          <p:nvPr/>
        </p:nvSpPr>
        <p:spPr>
          <a:xfrm>
            <a:off x="548640" y="3602736"/>
            <a:ext cx="8046720" cy="960120"/>
          </a:xfrm>
          <a:prstGeom prst="roundRect">
            <a:avLst>
              <a:gd name="adj" fmla="val 5714"/>
            </a:avLst>
          </a:prstGeom>
          <a:solidFill>
            <a:srgbClr val="F6F2EC"/>
          </a:solidFill>
          <a:ln w="12700">
            <a:solidFill>
              <a:srgbClr val="E7E2DA"/>
            </a:solidFill>
            <a:prstDash val="solid"/>
          </a:ln>
        </p:spPr>
      </p:sp>
      <p:sp>
        <p:nvSpPr>
          <p:cNvPr id="16" name="Shape 12"/>
          <p:cNvSpPr/>
          <p:nvPr/>
        </p:nvSpPr>
        <p:spPr>
          <a:xfrm>
            <a:off x="749808" y="3808476"/>
            <a:ext cx="548640" cy="548640"/>
          </a:xfrm>
          <a:prstGeom prst="ellipse">
            <a:avLst/>
          </a:prstGeom>
          <a:solidFill>
            <a:srgbClr val="E2711D"/>
          </a:solidFill>
          <a:ln/>
          <a:effectLst>
            <a:outerShdw sx="100000" sy="100000" kx="0" ky="0" algn="bl" rotWithShape="0" blurRad="88900" dist="38100" dir="8100000">
              <a:srgbClr val="000000">
                <a:alpha val="18000"/>
              </a:srgbClr>
            </a:outerShdw>
          </a:effectLst>
        </p:spPr>
      </p:sp>
      <p:pic>
        <p:nvPicPr>
          <p:cNvPr id="17" name="Image 2" descr="preencoded.png">    </p:cNvPr>
          <p:cNvPicPr>
            <a:picLocks noChangeAspect="1"/>
          </p:cNvPicPr>
          <p:nvPr/>
        </p:nvPicPr>
        <p:blipFill>
          <a:blip r:embed="rId3"/>
          <a:stretch>
            <a:fillRect/>
          </a:stretch>
        </p:blipFill>
        <p:spPr>
          <a:xfrm>
            <a:off x="881482" y="3940150"/>
            <a:ext cx="285293" cy="285293"/>
          </a:xfrm>
          <a:prstGeom prst="rect">
            <a:avLst/>
          </a:prstGeom>
        </p:spPr>
      </p:pic>
      <p:sp>
        <p:nvSpPr>
          <p:cNvPr id="18" name="Text 13"/>
          <p:cNvSpPr/>
          <p:nvPr/>
        </p:nvSpPr>
        <p:spPr>
          <a:xfrm>
            <a:off x="1508760" y="3721608"/>
            <a:ext cx="6858000" cy="320040"/>
          </a:xfrm>
          <a:prstGeom prst="rect">
            <a:avLst/>
          </a:prstGeom>
          <a:noFill/>
          <a:ln/>
        </p:spPr>
        <p:txBody>
          <a:bodyPr wrap="square" lIns="0" tIns="0" rIns="0" bIns="0" rtlCol="0" anchor="ctr"/>
          <a:lstStyle/>
          <a:p>
            <a:pPr indent="0" marL="0">
              <a:buNone/>
            </a:pPr>
            <a:r>
              <a:rPr lang="en-US" sz="1400" b="1" dirty="0">
                <a:solidFill>
                  <a:srgbClr val="1F1F23"/>
                </a:solidFill>
                <a:latin typeface="Trebuchet MS" pitchFamily="34" charset="0"/>
                <a:ea typeface="Trebuchet MS" pitchFamily="34" charset="-122"/>
                <a:cs typeface="Trebuchet MS" pitchFamily="34" charset="-120"/>
              </a:rPr>
              <a:t>Errores detectados y corregidos</a:t>
            </a:r>
            <a:endParaRPr lang="en-US" sz="1400" dirty="0"/>
          </a:p>
        </p:txBody>
      </p:sp>
      <p:sp>
        <p:nvSpPr>
          <p:cNvPr id="19" name="Text 14"/>
          <p:cNvSpPr/>
          <p:nvPr/>
        </p:nvSpPr>
        <p:spPr>
          <a:xfrm>
            <a:off x="1508760" y="4059936"/>
            <a:ext cx="6949440" cy="457200"/>
          </a:xfrm>
          <a:prstGeom prst="rect">
            <a:avLst/>
          </a:prstGeom>
          <a:noFill/>
          <a:ln/>
        </p:spPr>
        <p:txBody>
          <a:bodyPr wrap="square" lIns="0" tIns="0" rIns="0" bIns="0" rtlCol="0" anchor="ctr"/>
          <a:lstStyle/>
          <a:p>
            <a:pPr indent="0" marL="0">
              <a:buNone/>
            </a:pPr>
            <a:r>
              <a:rPr lang="en-US" sz="1200" dirty="0">
                <a:solidFill>
                  <a:srgbClr val="6E6E73"/>
                </a:solidFill>
                <a:latin typeface="Calibri" pitchFamily="34" charset="0"/>
                <a:ea typeface="Calibri" pitchFamily="34" charset="-122"/>
                <a:cs typeface="Calibri" pitchFamily="34" charset="-120"/>
              </a:rPr>
              <a:t>Refrescos que faltaban, límite de correos al registrar, brackets invertidos y un Excel que salía vacío.</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2711D"/>
          </a:solidFill>
          <a:ln/>
        </p:spPr>
      </p:sp>
      <p:sp>
        <p:nvSpPr>
          <p:cNvPr id="3" name="Text 1"/>
          <p:cNvSpPr/>
          <p:nvPr/>
        </p:nvSpPr>
        <p:spPr>
          <a:xfrm>
            <a:off x="548640" y="310896"/>
            <a:ext cx="8138160" cy="274320"/>
          </a:xfrm>
          <a:prstGeom prst="rect">
            <a:avLst/>
          </a:prstGeom>
          <a:noFill/>
          <a:ln/>
        </p:spPr>
        <p:txBody>
          <a:bodyPr wrap="square" lIns="0" tIns="0" rIns="0" bIns="0" rtlCol="0" anchor="ctr"/>
          <a:lstStyle/>
          <a:p>
            <a:pPr indent="0" marL="0">
              <a:buNone/>
            </a:pPr>
            <a:r>
              <a:rPr lang="en-US" sz="1200" b="1" spc="200" kern="0" dirty="0">
                <a:solidFill>
                  <a:srgbClr val="E2711D"/>
                </a:solidFill>
                <a:latin typeface="Trebuchet MS" pitchFamily="34" charset="0"/>
                <a:ea typeface="Trebuchet MS" pitchFamily="34" charset="-122"/>
                <a:cs typeface="Trebuchet MS" pitchFamily="34" charset="-120"/>
              </a:rPr>
              <a:t>06 · RESULTADOS</a:t>
            </a:r>
            <a:endParaRPr lang="en-US" sz="1200" dirty="0"/>
          </a:p>
        </p:txBody>
      </p:sp>
      <p:sp>
        <p:nvSpPr>
          <p:cNvPr id="4" name="Text 2"/>
          <p:cNvSpPr/>
          <p:nvPr/>
        </p:nvSpPr>
        <p:spPr>
          <a:xfrm>
            <a:off x="548640" y="566928"/>
            <a:ext cx="8138160" cy="731520"/>
          </a:xfrm>
          <a:prstGeom prst="rect">
            <a:avLst/>
          </a:prstGeom>
          <a:noFill/>
          <a:ln/>
        </p:spPr>
        <p:txBody>
          <a:bodyPr wrap="square" lIns="0" tIns="0" rIns="0" bIns="0" rtlCol="0" anchor="ctr"/>
          <a:lstStyle/>
          <a:p>
            <a:pPr indent="0" marL="0">
              <a:buNone/>
            </a:pPr>
            <a:r>
              <a:rPr lang="en-US" sz="2600" dirty="0">
                <a:solidFill>
                  <a:srgbClr val="1F1F23"/>
                </a:solidFill>
                <a:latin typeface="Arial Black" pitchFamily="34" charset="0"/>
                <a:ea typeface="Arial Black" pitchFamily="34" charset="-122"/>
                <a:cs typeface="Arial Black" pitchFamily="34" charset="-120"/>
              </a:rPr>
              <a:t>Objetivos cumplidos</a:t>
            </a:r>
            <a:endParaRPr lang="en-US" sz="2600" dirty="0"/>
          </a:p>
        </p:txBody>
      </p:sp>
      <p:sp>
        <p:nvSpPr>
          <p:cNvPr id="5" name="Shape 3"/>
          <p:cNvSpPr/>
          <p:nvPr/>
        </p:nvSpPr>
        <p:spPr>
          <a:xfrm>
            <a:off x="548640" y="1463040"/>
            <a:ext cx="2606040" cy="1371600"/>
          </a:xfrm>
          <a:prstGeom prst="roundRect">
            <a:avLst>
              <a:gd name="adj" fmla="val 4000"/>
            </a:avLst>
          </a:prstGeom>
          <a:solidFill>
            <a:srgbClr val="17171A"/>
          </a:solidFill>
          <a:ln/>
        </p:spPr>
      </p:sp>
      <p:sp>
        <p:nvSpPr>
          <p:cNvPr id="6" name="Text 4"/>
          <p:cNvSpPr/>
          <p:nvPr/>
        </p:nvSpPr>
        <p:spPr>
          <a:xfrm>
            <a:off x="548640" y="1627632"/>
            <a:ext cx="2606040" cy="640080"/>
          </a:xfrm>
          <a:prstGeom prst="rect">
            <a:avLst/>
          </a:prstGeom>
          <a:noFill/>
          <a:ln/>
        </p:spPr>
        <p:txBody>
          <a:bodyPr wrap="square" lIns="0" tIns="0" rIns="0" bIns="0" rtlCol="0" anchor="ctr"/>
          <a:lstStyle/>
          <a:p>
            <a:pPr algn="ctr" indent="0" marL="0">
              <a:buNone/>
            </a:pPr>
            <a:r>
              <a:rPr lang="en-US" sz="3800" dirty="0">
                <a:solidFill>
                  <a:srgbClr val="E2711D"/>
                </a:solidFill>
                <a:latin typeface="Arial Black" pitchFamily="34" charset="0"/>
                <a:ea typeface="Arial Black" pitchFamily="34" charset="-122"/>
                <a:cs typeface="Arial Black" pitchFamily="34" charset="-120"/>
              </a:rPr>
              <a:t>3</a:t>
            </a:r>
            <a:endParaRPr lang="en-US" sz="3800" dirty="0"/>
          </a:p>
        </p:txBody>
      </p:sp>
      <p:sp>
        <p:nvSpPr>
          <p:cNvPr id="7" name="Text 5"/>
          <p:cNvSpPr/>
          <p:nvPr/>
        </p:nvSpPr>
        <p:spPr>
          <a:xfrm>
            <a:off x="685800" y="2304288"/>
            <a:ext cx="233172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Trebuchet MS" pitchFamily="34" charset="0"/>
                <a:ea typeface="Trebuchet MS" pitchFamily="34" charset="-122"/>
                <a:cs typeface="Trebuchet MS" pitchFamily="34" charset="-120"/>
              </a:rPr>
              <a:t>plataformas</a:t>
            </a:r>
            <a:endParaRPr lang="en-US" sz="1150" dirty="0"/>
          </a:p>
          <a:p>
            <a:pPr algn="ctr" indent="0" marL="0">
              <a:buNone/>
            </a:pPr>
            <a:r>
              <a:rPr lang="en-US" sz="1150" b="1" dirty="0">
                <a:solidFill>
                  <a:srgbClr val="FFFFFF"/>
                </a:solidFill>
                <a:latin typeface="Trebuchet MS" pitchFamily="34" charset="0"/>
                <a:ea typeface="Trebuchet MS" pitchFamily="34" charset="-122"/>
                <a:cs typeface="Trebuchet MS" pitchFamily="34" charset="-120"/>
              </a:rPr>
              <a:t>desde un código</a:t>
            </a:r>
            <a:endParaRPr lang="en-US" sz="1150" dirty="0"/>
          </a:p>
        </p:txBody>
      </p:sp>
      <p:sp>
        <p:nvSpPr>
          <p:cNvPr id="8" name="Shape 6"/>
          <p:cNvSpPr/>
          <p:nvPr/>
        </p:nvSpPr>
        <p:spPr>
          <a:xfrm>
            <a:off x="3355848" y="1463040"/>
            <a:ext cx="2606040" cy="1371600"/>
          </a:xfrm>
          <a:prstGeom prst="roundRect">
            <a:avLst>
              <a:gd name="adj" fmla="val 4000"/>
            </a:avLst>
          </a:prstGeom>
          <a:solidFill>
            <a:srgbClr val="17171A"/>
          </a:solidFill>
          <a:ln/>
        </p:spPr>
      </p:sp>
      <p:sp>
        <p:nvSpPr>
          <p:cNvPr id="9" name="Text 7"/>
          <p:cNvSpPr/>
          <p:nvPr/>
        </p:nvSpPr>
        <p:spPr>
          <a:xfrm>
            <a:off x="3355848" y="1627632"/>
            <a:ext cx="2606040" cy="640080"/>
          </a:xfrm>
          <a:prstGeom prst="rect">
            <a:avLst/>
          </a:prstGeom>
          <a:noFill/>
          <a:ln/>
        </p:spPr>
        <p:txBody>
          <a:bodyPr wrap="square" lIns="0" tIns="0" rIns="0" bIns="0" rtlCol="0" anchor="ctr"/>
          <a:lstStyle/>
          <a:p>
            <a:pPr algn="ctr" indent="0" marL="0">
              <a:buNone/>
            </a:pPr>
            <a:r>
              <a:rPr lang="en-US" sz="3800" dirty="0">
                <a:solidFill>
                  <a:srgbClr val="E2711D"/>
                </a:solidFill>
                <a:latin typeface="Arial Black" pitchFamily="34" charset="0"/>
                <a:ea typeface="Arial Black" pitchFamily="34" charset="-122"/>
                <a:cs typeface="Arial Black" pitchFamily="34" charset="-120"/>
              </a:rPr>
              <a:t>&lt; 2 s</a:t>
            </a:r>
            <a:endParaRPr lang="en-US" sz="3800" dirty="0"/>
          </a:p>
        </p:txBody>
      </p:sp>
      <p:sp>
        <p:nvSpPr>
          <p:cNvPr id="10" name="Text 8"/>
          <p:cNvSpPr/>
          <p:nvPr/>
        </p:nvSpPr>
        <p:spPr>
          <a:xfrm>
            <a:off x="3493008" y="2304288"/>
            <a:ext cx="233172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Trebuchet MS" pitchFamily="34" charset="0"/>
                <a:ea typeface="Trebuchet MS" pitchFamily="34" charset="-122"/>
                <a:cs typeface="Trebuchet MS" pitchFamily="34" charset="-120"/>
              </a:rPr>
              <a:t>carga de las</a:t>
            </a:r>
            <a:endParaRPr lang="en-US" sz="1150" dirty="0"/>
          </a:p>
          <a:p>
            <a:pPr algn="ctr" indent="0" marL="0">
              <a:buNone/>
            </a:pPr>
            <a:r>
              <a:rPr lang="en-US" sz="1150" b="1" dirty="0">
                <a:solidFill>
                  <a:srgbClr val="FFFFFF"/>
                </a:solidFill>
                <a:latin typeface="Trebuchet MS" pitchFamily="34" charset="0"/>
                <a:ea typeface="Trebuchet MS" pitchFamily="34" charset="-122"/>
                <a:cs typeface="Trebuchet MS" pitchFamily="34" charset="-120"/>
              </a:rPr>
              <a:t>pantallas (RNF-02)</a:t>
            </a:r>
            <a:endParaRPr lang="en-US" sz="1150" dirty="0"/>
          </a:p>
        </p:txBody>
      </p:sp>
      <p:sp>
        <p:nvSpPr>
          <p:cNvPr id="11" name="Shape 9"/>
          <p:cNvSpPr/>
          <p:nvPr/>
        </p:nvSpPr>
        <p:spPr>
          <a:xfrm>
            <a:off x="6163056" y="1463040"/>
            <a:ext cx="2606040" cy="1371600"/>
          </a:xfrm>
          <a:prstGeom prst="roundRect">
            <a:avLst>
              <a:gd name="adj" fmla="val 4000"/>
            </a:avLst>
          </a:prstGeom>
          <a:solidFill>
            <a:srgbClr val="17171A"/>
          </a:solidFill>
          <a:ln/>
        </p:spPr>
      </p:sp>
      <p:sp>
        <p:nvSpPr>
          <p:cNvPr id="12" name="Text 10"/>
          <p:cNvSpPr/>
          <p:nvPr/>
        </p:nvSpPr>
        <p:spPr>
          <a:xfrm>
            <a:off x="6163056" y="1627632"/>
            <a:ext cx="2606040" cy="640080"/>
          </a:xfrm>
          <a:prstGeom prst="rect">
            <a:avLst/>
          </a:prstGeom>
          <a:noFill/>
          <a:ln/>
        </p:spPr>
        <p:txBody>
          <a:bodyPr wrap="square" lIns="0" tIns="0" rIns="0" bIns="0" rtlCol="0" anchor="ctr"/>
          <a:lstStyle/>
          <a:p>
            <a:pPr algn="ctr" indent="0" marL="0">
              <a:buNone/>
            </a:pPr>
            <a:r>
              <a:rPr lang="en-US" sz="3800" dirty="0">
                <a:solidFill>
                  <a:srgbClr val="E2711D"/>
                </a:solidFill>
                <a:latin typeface="Arial Black" pitchFamily="34" charset="0"/>
                <a:ea typeface="Arial Black" pitchFamily="34" charset="-122"/>
                <a:cs typeface="Arial Black" pitchFamily="34" charset="-120"/>
              </a:rPr>
              <a:t>&lt; 1 s</a:t>
            </a:r>
            <a:endParaRPr lang="en-US" sz="3800" dirty="0"/>
          </a:p>
        </p:txBody>
      </p:sp>
      <p:sp>
        <p:nvSpPr>
          <p:cNvPr id="13" name="Text 11"/>
          <p:cNvSpPr/>
          <p:nvPr/>
        </p:nvSpPr>
        <p:spPr>
          <a:xfrm>
            <a:off x="6300216" y="2304288"/>
            <a:ext cx="233172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Trebuchet MS" pitchFamily="34" charset="0"/>
                <a:ea typeface="Trebuchet MS" pitchFamily="34" charset="-122"/>
                <a:cs typeface="Trebuchet MS" pitchFamily="34" charset="-120"/>
              </a:rPr>
              <a:t>actualización</a:t>
            </a:r>
            <a:endParaRPr lang="en-US" sz="1150" dirty="0"/>
          </a:p>
          <a:p>
            <a:pPr algn="ctr" indent="0" marL="0">
              <a:buNone/>
            </a:pPr>
            <a:r>
              <a:rPr lang="en-US" sz="1150" b="1" dirty="0">
                <a:solidFill>
                  <a:srgbClr val="FFFFFF"/>
                </a:solidFill>
                <a:latin typeface="Trebuchet MS" pitchFamily="34" charset="0"/>
                <a:ea typeface="Trebuchet MS" pitchFamily="34" charset="-122"/>
                <a:cs typeface="Trebuchet MS" pitchFamily="34" charset="-120"/>
              </a:rPr>
              <a:t>en tiempo real</a:t>
            </a:r>
            <a:endParaRPr lang="en-US" sz="1150" dirty="0"/>
          </a:p>
        </p:txBody>
      </p:sp>
      <p:sp>
        <p:nvSpPr>
          <p:cNvPr id="14" name="Shape 12"/>
          <p:cNvSpPr/>
          <p:nvPr/>
        </p:nvSpPr>
        <p:spPr>
          <a:xfrm>
            <a:off x="566928" y="3154680"/>
            <a:ext cx="365760" cy="365760"/>
          </a:xfrm>
          <a:prstGeom prst="ellipse">
            <a:avLst/>
          </a:prstGeom>
          <a:solidFill>
            <a:srgbClr val="FFFFFF"/>
          </a:solidFill>
          <a:ln/>
          <a:effectLst>
            <a:outerShdw sx="100000" sy="100000" kx="0" ky="0" algn="bl" rotWithShape="0" blurRad="88900" dist="38100" dir="8100000">
              <a:srgbClr val="000000">
                <a:alpha val="18000"/>
              </a:srgbClr>
            </a:outerShdw>
          </a:effectLst>
        </p:spPr>
      </p:sp>
      <p:pic>
        <p:nvPicPr>
          <p:cNvPr id="15" name="Image 0" descr="preencoded.png">    </p:cNvPr>
          <p:cNvPicPr>
            <a:picLocks noChangeAspect="1"/>
          </p:cNvPicPr>
          <p:nvPr/>
        </p:nvPicPr>
        <p:blipFill>
          <a:blip r:embed="rId1"/>
          <a:stretch>
            <a:fillRect/>
          </a:stretch>
        </p:blipFill>
        <p:spPr>
          <a:xfrm>
            <a:off x="654710" y="3242462"/>
            <a:ext cx="190195" cy="190195"/>
          </a:xfrm>
          <a:prstGeom prst="rect">
            <a:avLst/>
          </a:prstGeom>
        </p:spPr>
      </p:pic>
      <p:sp>
        <p:nvSpPr>
          <p:cNvPr id="16" name="Shape 13"/>
          <p:cNvSpPr/>
          <p:nvPr/>
        </p:nvSpPr>
        <p:spPr>
          <a:xfrm>
            <a:off x="566928" y="3154680"/>
            <a:ext cx="365760" cy="365760"/>
          </a:xfrm>
          <a:prstGeom prst="ellipse">
            <a:avLst/>
          </a:prstGeom>
          <a:solidFill>
            <a:srgbClr val="F6F2EC"/>
          </a:solidFill>
          <a:ln w="12700">
            <a:solidFill>
              <a:srgbClr val="E2711D"/>
            </a:solidFill>
            <a:prstDash val="solid"/>
          </a:ln>
        </p:spPr>
      </p:sp>
      <p:pic>
        <p:nvPicPr>
          <p:cNvPr id="17" name="Image 1" descr="preencoded.png">    </p:cNvPr>
          <p:cNvPicPr>
            <a:picLocks noChangeAspect="1"/>
          </p:cNvPicPr>
          <p:nvPr/>
        </p:nvPicPr>
        <p:blipFill>
          <a:blip r:embed="rId2"/>
          <a:stretch>
            <a:fillRect/>
          </a:stretch>
        </p:blipFill>
        <p:spPr>
          <a:xfrm>
            <a:off x="658368" y="3246120"/>
            <a:ext cx="182880" cy="182880"/>
          </a:xfrm>
          <a:prstGeom prst="rect">
            <a:avLst/>
          </a:prstGeom>
        </p:spPr>
      </p:pic>
      <p:sp>
        <p:nvSpPr>
          <p:cNvPr id="18" name="Text 14"/>
          <p:cNvSpPr/>
          <p:nvPr/>
        </p:nvSpPr>
        <p:spPr>
          <a:xfrm>
            <a:off x="1051560" y="3127248"/>
            <a:ext cx="7589520" cy="411480"/>
          </a:xfrm>
          <a:prstGeom prst="rect">
            <a:avLst/>
          </a:prstGeom>
          <a:noFill/>
          <a:ln/>
        </p:spPr>
        <p:txBody>
          <a:bodyPr wrap="square" lIns="0" tIns="0" rIns="0" bIns="0" rtlCol="0" anchor="ctr"/>
          <a:lstStyle/>
          <a:p>
            <a:pPr indent="0" marL="0">
              <a:buNone/>
            </a:pPr>
            <a:r>
              <a:rPr lang="en-US" sz="1350" dirty="0">
                <a:solidFill>
                  <a:srgbClr val="1F1F23"/>
                </a:solidFill>
                <a:latin typeface="Calibri" pitchFamily="34" charset="0"/>
                <a:ea typeface="Calibri" pitchFamily="34" charset="-122"/>
                <a:cs typeface="Calibri" pitchFamily="34" charset="-120"/>
              </a:rPr>
              <a:t>Aplicación desplegada y en uso real (PWA + APK)</a:t>
            </a:r>
            <a:endParaRPr lang="en-US" sz="1350" dirty="0"/>
          </a:p>
        </p:txBody>
      </p:sp>
      <p:sp>
        <p:nvSpPr>
          <p:cNvPr id="19" name="Shape 15"/>
          <p:cNvSpPr/>
          <p:nvPr/>
        </p:nvSpPr>
        <p:spPr>
          <a:xfrm>
            <a:off x="566928" y="3611880"/>
            <a:ext cx="365760" cy="365760"/>
          </a:xfrm>
          <a:prstGeom prst="ellipse">
            <a:avLst/>
          </a:prstGeom>
          <a:solidFill>
            <a:srgbClr val="FFFFFF"/>
          </a:solidFill>
          <a:ln/>
          <a:effectLst>
            <a:outerShdw sx="100000" sy="100000" kx="0" ky="0" algn="bl" rotWithShape="0" blurRad="88900" dist="38100" dir="8100000">
              <a:srgbClr val="000000">
                <a:alpha val="18000"/>
              </a:srgbClr>
            </a:outerShdw>
          </a:effectLst>
        </p:spPr>
      </p:sp>
      <p:pic>
        <p:nvPicPr>
          <p:cNvPr id="20" name="Image 2" descr="preencoded.png">    </p:cNvPr>
          <p:cNvPicPr>
            <a:picLocks noChangeAspect="1"/>
          </p:cNvPicPr>
          <p:nvPr/>
        </p:nvPicPr>
        <p:blipFill>
          <a:blip r:embed="rId3"/>
          <a:stretch>
            <a:fillRect/>
          </a:stretch>
        </p:blipFill>
        <p:spPr>
          <a:xfrm>
            <a:off x="654710" y="3699662"/>
            <a:ext cx="190195" cy="190195"/>
          </a:xfrm>
          <a:prstGeom prst="rect">
            <a:avLst/>
          </a:prstGeom>
        </p:spPr>
      </p:pic>
      <p:sp>
        <p:nvSpPr>
          <p:cNvPr id="21" name="Shape 16"/>
          <p:cNvSpPr/>
          <p:nvPr/>
        </p:nvSpPr>
        <p:spPr>
          <a:xfrm>
            <a:off x="566928" y="3611880"/>
            <a:ext cx="365760" cy="365760"/>
          </a:xfrm>
          <a:prstGeom prst="ellipse">
            <a:avLst/>
          </a:prstGeom>
          <a:solidFill>
            <a:srgbClr val="F6F2EC"/>
          </a:solidFill>
          <a:ln w="12700">
            <a:solidFill>
              <a:srgbClr val="E2711D"/>
            </a:solidFill>
            <a:prstDash val="solid"/>
          </a:ln>
        </p:spPr>
      </p:sp>
      <p:pic>
        <p:nvPicPr>
          <p:cNvPr id="22" name="Image 3" descr="preencoded.png">    </p:cNvPr>
          <p:cNvPicPr>
            <a:picLocks noChangeAspect="1"/>
          </p:cNvPicPr>
          <p:nvPr/>
        </p:nvPicPr>
        <p:blipFill>
          <a:blip r:embed="rId4"/>
          <a:stretch>
            <a:fillRect/>
          </a:stretch>
        </p:blipFill>
        <p:spPr>
          <a:xfrm>
            <a:off x="658368" y="3703320"/>
            <a:ext cx="182880" cy="182880"/>
          </a:xfrm>
          <a:prstGeom prst="rect">
            <a:avLst/>
          </a:prstGeom>
        </p:spPr>
      </p:pic>
      <p:sp>
        <p:nvSpPr>
          <p:cNvPr id="23" name="Text 17"/>
          <p:cNvSpPr/>
          <p:nvPr/>
        </p:nvSpPr>
        <p:spPr>
          <a:xfrm>
            <a:off x="1051560" y="3584448"/>
            <a:ext cx="7589520" cy="411480"/>
          </a:xfrm>
          <a:prstGeom prst="rect">
            <a:avLst/>
          </a:prstGeom>
          <a:noFill/>
          <a:ln/>
        </p:spPr>
        <p:txBody>
          <a:bodyPr wrap="square" lIns="0" tIns="0" rIns="0" bIns="0" rtlCol="0" anchor="ctr"/>
          <a:lstStyle/>
          <a:p>
            <a:pPr indent="0" marL="0">
              <a:buNone/>
            </a:pPr>
            <a:r>
              <a:rPr lang="en-US" sz="1350" dirty="0">
                <a:solidFill>
                  <a:srgbClr val="1F1F23"/>
                </a:solidFill>
                <a:latin typeface="Calibri" pitchFamily="34" charset="0"/>
                <a:ea typeface="Calibri" pitchFamily="34" charset="-122"/>
                <a:cs typeface="Calibri" pitchFamily="34" charset="-120"/>
              </a:rPr>
              <a:t>Gestión completa: usuarios, equipos y competiciones</a:t>
            </a:r>
            <a:endParaRPr lang="en-US" sz="1350" dirty="0"/>
          </a:p>
        </p:txBody>
      </p:sp>
      <p:sp>
        <p:nvSpPr>
          <p:cNvPr id="24" name="Shape 18"/>
          <p:cNvSpPr/>
          <p:nvPr/>
        </p:nvSpPr>
        <p:spPr>
          <a:xfrm>
            <a:off x="566928" y="4069080"/>
            <a:ext cx="365760" cy="365760"/>
          </a:xfrm>
          <a:prstGeom prst="ellipse">
            <a:avLst/>
          </a:prstGeom>
          <a:solidFill>
            <a:srgbClr val="FFFFFF"/>
          </a:solidFill>
          <a:ln/>
          <a:effectLst>
            <a:outerShdw sx="100000" sy="100000" kx="0" ky="0" algn="bl" rotWithShape="0" blurRad="88900" dist="38100" dir="8100000">
              <a:srgbClr val="000000">
                <a:alpha val="18000"/>
              </a:srgbClr>
            </a:outerShdw>
          </a:effectLst>
        </p:spPr>
      </p:sp>
      <p:pic>
        <p:nvPicPr>
          <p:cNvPr id="25" name="Image 4" descr="preencoded.png">    </p:cNvPr>
          <p:cNvPicPr>
            <a:picLocks noChangeAspect="1"/>
          </p:cNvPicPr>
          <p:nvPr/>
        </p:nvPicPr>
        <p:blipFill>
          <a:blip r:embed="rId5"/>
          <a:stretch>
            <a:fillRect/>
          </a:stretch>
        </p:blipFill>
        <p:spPr>
          <a:xfrm>
            <a:off x="654710" y="4156862"/>
            <a:ext cx="190195" cy="190195"/>
          </a:xfrm>
          <a:prstGeom prst="rect">
            <a:avLst/>
          </a:prstGeom>
        </p:spPr>
      </p:pic>
      <p:sp>
        <p:nvSpPr>
          <p:cNvPr id="26" name="Shape 19"/>
          <p:cNvSpPr/>
          <p:nvPr/>
        </p:nvSpPr>
        <p:spPr>
          <a:xfrm>
            <a:off x="566928" y="4069080"/>
            <a:ext cx="365760" cy="365760"/>
          </a:xfrm>
          <a:prstGeom prst="ellipse">
            <a:avLst/>
          </a:prstGeom>
          <a:solidFill>
            <a:srgbClr val="F6F2EC"/>
          </a:solidFill>
          <a:ln w="12700">
            <a:solidFill>
              <a:srgbClr val="E2711D"/>
            </a:solidFill>
            <a:prstDash val="solid"/>
          </a:ln>
        </p:spPr>
      </p:sp>
      <p:pic>
        <p:nvPicPr>
          <p:cNvPr id="27" name="Image 5" descr="preencoded.png">    </p:cNvPr>
          <p:cNvPicPr>
            <a:picLocks noChangeAspect="1"/>
          </p:cNvPicPr>
          <p:nvPr/>
        </p:nvPicPr>
        <p:blipFill>
          <a:blip r:embed="rId6"/>
          <a:stretch>
            <a:fillRect/>
          </a:stretch>
        </p:blipFill>
        <p:spPr>
          <a:xfrm>
            <a:off x="658368" y="4160520"/>
            <a:ext cx="182880" cy="182880"/>
          </a:xfrm>
          <a:prstGeom prst="rect">
            <a:avLst/>
          </a:prstGeom>
        </p:spPr>
      </p:pic>
      <p:sp>
        <p:nvSpPr>
          <p:cNvPr id="28" name="Text 20"/>
          <p:cNvSpPr/>
          <p:nvPr/>
        </p:nvSpPr>
        <p:spPr>
          <a:xfrm>
            <a:off x="1051560" y="4041648"/>
            <a:ext cx="7589520" cy="411480"/>
          </a:xfrm>
          <a:prstGeom prst="rect">
            <a:avLst/>
          </a:prstGeom>
          <a:noFill/>
          <a:ln/>
        </p:spPr>
        <p:txBody>
          <a:bodyPr wrap="square" lIns="0" tIns="0" rIns="0" bIns="0" rtlCol="0" anchor="ctr"/>
          <a:lstStyle/>
          <a:p>
            <a:pPr indent="0" marL="0">
              <a:buNone/>
            </a:pPr>
            <a:r>
              <a:rPr lang="en-US" sz="1350" dirty="0">
                <a:solidFill>
                  <a:srgbClr val="1F1F23"/>
                </a:solidFill>
                <a:latin typeface="Calibri" pitchFamily="34" charset="0"/>
                <a:ea typeface="Calibri" pitchFamily="34" charset="-122"/>
                <a:cs typeface="Calibri" pitchFamily="34" charset="-120"/>
              </a:rPr>
              <a:t>Tiempo real y exportaciones funcionando en las 4 plataformas</a:t>
            </a:r>
            <a:endParaRPr lang="en-US" sz="1350" dirty="0"/>
          </a:p>
        </p:txBody>
      </p:sp>
      <p:sp>
        <p:nvSpPr>
          <p:cNvPr id="29" name="Shape 21"/>
          <p:cNvSpPr/>
          <p:nvPr/>
        </p:nvSpPr>
        <p:spPr>
          <a:xfrm>
            <a:off x="566928" y="4526280"/>
            <a:ext cx="365760" cy="365760"/>
          </a:xfrm>
          <a:prstGeom prst="ellipse">
            <a:avLst/>
          </a:prstGeom>
          <a:solidFill>
            <a:srgbClr val="FFFFFF"/>
          </a:solidFill>
          <a:ln/>
          <a:effectLst>
            <a:outerShdw sx="100000" sy="100000" kx="0" ky="0" algn="bl" rotWithShape="0" blurRad="88900" dist="38100" dir="8100000">
              <a:srgbClr val="000000">
                <a:alpha val="18000"/>
              </a:srgbClr>
            </a:outerShdw>
          </a:effectLst>
        </p:spPr>
      </p:sp>
      <p:pic>
        <p:nvPicPr>
          <p:cNvPr id="30" name="Image 6" descr="preencoded.png">    </p:cNvPr>
          <p:cNvPicPr>
            <a:picLocks noChangeAspect="1"/>
          </p:cNvPicPr>
          <p:nvPr/>
        </p:nvPicPr>
        <p:blipFill>
          <a:blip r:embed="rId7"/>
          <a:stretch>
            <a:fillRect/>
          </a:stretch>
        </p:blipFill>
        <p:spPr>
          <a:xfrm>
            <a:off x="654710" y="4614062"/>
            <a:ext cx="190195" cy="190195"/>
          </a:xfrm>
          <a:prstGeom prst="rect">
            <a:avLst/>
          </a:prstGeom>
        </p:spPr>
      </p:pic>
      <p:sp>
        <p:nvSpPr>
          <p:cNvPr id="31" name="Shape 22"/>
          <p:cNvSpPr/>
          <p:nvPr/>
        </p:nvSpPr>
        <p:spPr>
          <a:xfrm>
            <a:off x="566928" y="4526280"/>
            <a:ext cx="365760" cy="365760"/>
          </a:xfrm>
          <a:prstGeom prst="ellipse">
            <a:avLst/>
          </a:prstGeom>
          <a:solidFill>
            <a:srgbClr val="F6F2EC"/>
          </a:solidFill>
          <a:ln w="12700">
            <a:solidFill>
              <a:srgbClr val="E2711D"/>
            </a:solidFill>
            <a:prstDash val="solid"/>
          </a:ln>
        </p:spPr>
      </p:sp>
      <p:pic>
        <p:nvPicPr>
          <p:cNvPr id="32" name="Image 7" descr="preencoded.png">    </p:cNvPr>
          <p:cNvPicPr>
            <a:picLocks noChangeAspect="1"/>
          </p:cNvPicPr>
          <p:nvPr/>
        </p:nvPicPr>
        <p:blipFill>
          <a:blip r:embed="rId8"/>
          <a:stretch>
            <a:fillRect/>
          </a:stretch>
        </p:blipFill>
        <p:spPr>
          <a:xfrm>
            <a:off x="658368" y="4617720"/>
            <a:ext cx="182880" cy="182880"/>
          </a:xfrm>
          <a:prstGeom prst="rect">
            <a:avLst/>
          </a:prstGeom>
        </p:spPr>
      </p:pic>
      <p:sp>
        <p:nvSpPr>
          <p:cNvPr id="33" name="Text 23"/>
          <p:cNvSpPr/>
          <p:nvPr/>
        </p:nvSpPr>
        <p:spPr>
          <a:xfrm>
            <a:off x="1051560" y="4498848"/>
            <a:ext cx="7589520" cy="411480"/>
          </a:xfrm>
          <a:prstGeom prst="rect">
            <a:avLst/>
          </a:prstGeom>
          <a:noFill/>
          <a:ln/>
        </p:spPr>
        <p:txBody>
          <a:bodyPr wrap="square" lIns="0" tIns="0" rIns="0" bIns="0" rtlCol="0" anchor="ctr"/>
          <a:lstStyle/>
          <a:p>
            <a:pPr indent="0" marL="0">
              <a:buNone/>
            </a:pPr>
            <a:r>
              <a:rPr lang="en-US" sz="1350" dirty="0">
                <a:solidFill>
                  <a:srgbClr val="1F1F23"/>
                </a:solidFill>
                <a:latin typeface="Calibri" pitchFamily="34" charset="0"/>
                <a:ea typeface="Calibri" pitchFamily="34" charset="-122"/>
                <a:cs typeface="Calibri" pitchFamily="34" charset="-120"/>
              </a:rPr>
              <a:t>Todos los requisitos funcionales implementados</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71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88720" y="2194560"/>
            <a:ext cx="3657600" cy="3657600"/>
          </a:xfrm>
          <a:prstGeom prst="rect">
            <a:avLst/>
          </a:prstGeom>
        </p:spPr>
      </p:pic>
      <p:sp>
        <p:nvSpPr>
          <p:cNvPr id="3" name="Shape 0"/>
          <p:cNvSpPr/>
          <p:nvPr/>
        </p:nvSpPr>
        <p:spPr>
          <a:xfrm>
            <a:off x="822960" y="640080"/>
            <a:ext cx="502920" cy="82296"/>
          </a:xfrm>
          <a:prstGeom prst="rect">
            <a:avLst/>
          </a:prstGeom>
          <a:solidFill>
            <a:srgbClr val="E2711D"/>
          </a:solidFill>
          <a:ln/>
        </p:spPr>
      </p:sp>
      <p:sp>
        <p:nvSpPr>
          <p:cNvPr id="4" name="Text 1"/>
          <p:cNvSpPr/>
          <p:nvPr/>
        </p:nvSpPr>
        <p:spPr>
          <a:xfrm>
            <a:off x="822960" y="804672"/>
            <a:ext cx="7315200" cy="274320"/>
          </a:xfrm>
          <a:prstGeom prst="rect">
            <a:avLst/>
          </a:prstGeom>
          <a:noFill/>
          <a:ln/>
        </p:spPr>
        <p:txBody>
          <a:bodyPr wrap="square" lIns="0" tIns="0" rIns="0" bIns="0" rtlCol="0" anchor="ctr"/>
          <a:lstStyle/>
          <a:p>
            <a:pPr indent="0" marL="0">
              <a:buNone/>
            </a:pPr>
            <a:r>
              <a:rPr lang="en-US" sz="1200" b="1" spc="200" kern="0" dirty="0">
                <a:solidFill>
                  <a:srgbClr val="F4A259"/>
                </a:solidFill>
                <a:latin typeface="Trebuchet MS" pitchFamily="34" charset="0"/>
                <a:ea typeface="Trebuchet MS" pitchFamily="34" charset="-122"/>
                <a:cs typeface="Trebuchet MS" pitchFamily="34" charset="-120"/>
              </a:rPr>
              <a:t>CONCLUSIONES</a:t>
            </a:r>
            <a:endParaRPr lang="en-US" sz="1200" dirty="0"/>
          </a:p>
        </p:txBody>
      </p:sp>
      <p:sp>
        <p:nvSpPr>
          <p:cNvPr id="5" name="Text 2"/>
          <p:cNvSpPr/>
          <p:nvPr/>
        </p:nvSpPr>
        <p:spPr>
          <a:xfrm>
            <a:off x="822960" y="1097280"/>
            <a:ext cx="7772400" cy="640080"/>
          </a:xfrm>
          <a:prstGeom prst="rect">
            <a:avLst/>
          </a:prstGeom>
          <a:noFill/>
          <a:ln/>
        </p:spPr>
        <p:txBody>
          <a:bodyPr wrap="square" lIns="0" tIns="0" rIns="0" bIns="0" rtlCol="0" anchor="ctr"/>
          <a:lstStyle/>
          <a:p>
            <a:pPr indent="0" marL="0">
              <a:buNone/>
            </a:pPr>
            <a:r>
              <a:rPr lang="en-US" sz="2400" dirty="0">
                <a:solidFill>
                  <a:srgbClr val="FFFFFF"/>
                </a:solidFill>
                <a:latin typeface="Arial Black" pitchFamily="34" charset="0"/>
                <a:ea typeface="Arial Black" pitchFamily="34" charset="-122"/>
                <a:cs typeface="Arial Black" pitchFamily="34" charset="-120"/>
              </a:rPr>
              <a:t>Un proyecto completo, de la idea al uso real</a:t>
            </a:r>
            <a:endParaRPr lang="en-US" sz="2400" dirty="0"/>
          </a:p>
        </p:txBody>
      </p:sp>
      <p:pic>
        <p:nvPicPr>
          <p:cNvPr id="6" name="Image 1" descr="preencoded.png">    </p:cNvPr>
          <p:cNvPicPr>
            <a:picLocks noChangeAspect="1"/>
          </p:cNvPicPr>
          <p:nvPr/>
        </p:nvPicPr>
        <p:blipFill>
          <a:blip r:embed="rId2"/>
          <a:stretch>
            <a:fillRect/>
          </a:stretch>
        </p:blipFill>
        <p:spPr>
          <a:xfrm>
            <a:off x="914400" y="1993392"/>
            <a:ext cx="256032" cy="256032"/>
          </a:xfrm>
          <a:prstGeom prst="rect">
            <a:avLst/>
          </a:prstGeom>
        </p:spPr>
      </p:pic>
      <p:sp>
        <p:nvSpPr>
          <p:cNvPr id="7" name="Text 3"/>
          <p:cNvSpPr/>
          <p:nvPr/>
        </p:nvSpPr>
        <p:spPr>
          <a:xfrm>
            <a:off x="1325880" y="1947672"/>
            <a:ext cx="7315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Resuelve un problema real con una sola herramienta multiplataforma</a:t>
            </a:r>
            <a:endParaRPr lang="en-US" sz="1400" dirty="0"/>
          </a:p>
        </p:txBody>
      </p:sp>
      <p:pic>
        <p:nvPicPr>
          <p:cNvPr id="8" name="Image 2" descr="preencoded.png">    </p:cNvPr>
          <p:cNvPicPr>
            <a:picLocks noChangeAspect="1"/>
          </p:cNvPicPr>
          <p:nvPr/>
        </p:nvPicPr>
        <p:blipFill>
          <a:blip r:embed="rId3"/>
          <a:stretch>
            <a:fillRect/>
          </a:stretch>
        </p:blipFill>
        <p:spPr>
          <a:xfrm>
            <a:off x="914400" y="2468880"/>
            <a:ext cx="256032" cy="256032"/>
          </a:xfrm>
          <a:prstGeom prst="rect">
            <a:avLst/>
          </a:prstGeom>
        </p:spPr>
      </p:pic>
      <p:sp>
        <p:nvSpPr>
          <p:cNvPr id="9" name="Text 4"/>
          <p:cNvSpPr/>
          <p:nvPr/>
        </p:nvSpPr>
        <p:spPr>
          <a:xfrm>
            <a:off x="1325880" y="2423160"/>
            <a:ext cx="7315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Integra tiempo real, seguridad por roles y exportación de datos</a:t>
            </a:r>
            <a:endParaRPr lang="en-US" sz="1400" dirty="0"/>
          </a:p>
        </p:txBody>
      </p:sp>
      <p:pic>
        <p:nvPicPr>
          <p:cNvPr id="10" name="Image 3" descr="preencoded.png">    </p:cNvPr>
          <p:cNvPicPr>
            <a:picLocks noChangeAspect="1"/>
          </p:cNvPicPr>
          <p:nvPr/>
        </p:nvPicPr>
        <p:blipFill>
          <a:blip r:embed="rId4"/>
          <a:stretch>
            <a:fillRect/>
          </a:stretch>
        </p:blipFill>
        <p:spPr>
          <a:xfrm>
            <a:off x="914400" y="2944368"/>
            <a:ext cx="256032" cy="256032"/>
          </a:xfrm>
          <a:prstGeom prst="rect">
            <a:avLst/>
          </a:prstGeom>
        </p:spPr>
      </p:pic>
      <p:sp>
        <p:nvSpPr>
          <p:cNvPr id="11" name="Text 5"/>
          <p:cNvSpPr/>
          <p:nvPr/>
        </p:nvSpPr>
        <p:spPr>
          <a:xfrm>
            <a:off x="1325880" y="2898648"/>
            <a:ext cx="73152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Demuestra el ciclo completo: análisis, diseño, desarrollo y despliegue</a:t>
            </a:r>
            <a:endParaRPr lang="en-US" sz="1400" dirty="0"/>
          </a:p>
        </p:txBody>
      </p:sp>
      <p:sp>
        <p:nvSpPr>
          <p:cNvPr id="12" name="Text 6"/>
          <p:cNvSpPr/>
          <p:nvPr/>
        </p:nvSpPr>
        <p:spPr>
          <a:xfrm>
            <a:off x="822960" y="3520440"/>
            <a:ext cx="7315200" cy="274320"/>
          </a:xfrm>
          <a:prstGeom prst="rect">
            <a:avLst/>
          </a:prstGeom>
          <a:noFill/>
          <a:ln/>
        </p:spPr>
        <p:txBody>
          <a:bodyPr wrap="square" lIns="0" tIns="0" rIns="0" bIns="0" rtlCol="0" anchor="ctr"/>
          <a:lstStyle/>
          <a:p>
            <a:pPr indent="0" marL="0">
              <a:buNone/>
            </a:pPr>
            <a:r>
              <a:rPr lang="en-US" sz="1300" b="1" dirty="0">
                <a:solidFill>
                  <a:srgbClr val="F4A259"/>
                </a:solidFill>
                <a:latin typeface="Trebuchet MS" pitchFamily="34" charset="0"/>
                <a:ea typeface="Trebuchet MS" pitchFamily="34" charset="-122"/>
                <a:cs typeface="Trebuchet MS" pitchFamily="34" charset="-120"/>
              </a:rPr>
              <a:t>Líneas futuras</a:t>
            </a:r>
            <a:endParaRPr lang="en-US" sz="1300" dirty="0"/>
          </a:p>
        </p:txBody>
      </p:sp>
      <p:sp>
        <p:nvSpPr>
          <p:cNvPr id="13" name="Text 7"/>
          <p:cNvSpPr/>
          <p:nvPr/>
        </p:nvSpPr>
        <p:spPr>
          <a:xfrm>
            <a:off x="822960" y="3822192"/>
            <a:ext cx="7772400" cy="457200"/>
          </a:xfrm>
          <a:prstGeom prst="rect">
            <a:avLst/>
          </a:prstGeom>
          <a:noFill/>
          <a:ln/>
        </p:spPr>
        <p:txBody>
          <a:bodyPr wrap="square" lIns="0" tIns="0" rIns="0" bIns="0" rtlCol="0" anchor="ctr"/>
          <a:lstStyle/>
          <a:p>
            <a:pPr indent="0" marL="0">
              <a:buNone/>
            </a:pPr>
            <a:r>
              <a:rPr lang="en-US" sz="1250" i="1" dirty="0">
                <a:solidFill>
                  <a:srgbClr val="C9C4BC"/>
                </a:solidFill>
                <a:latin typeface="Calibri" pitchFamily="34" charset="0"/>
                <a:ea typeface="Calibri" pitchFamily="34" charset="-122"/>
                <a:cs typeface="Calibri" pitchFamily="34" charset="-120"/>
              </a:rPr>
              <a:t>Pruebas automatizadas · estadísticas integradas en el propio partido · más analíticas para el entrenador.</a:t>
            </a:r>
            <a:endParaRPr lang="en-US" sz="1250" dirty="0"/>
          </a:p>
        </p:txBody>
      </p:sp>
      <p:sp>
        <p:nvSpPr>
          <p:cNvPr id="14" name="Text 8"/>
          <p:cNvSpPr/>
          <p:nvPr/>
        </p:nvSpPr>
        <p:spPr>
          <a:xfrm>
            <a:off x="822960" y="4434840"/>
            <a:ext cx="7772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¡Gracias!   </a:t>
            </a:r>
            <a:pPr indent="0" marL="0">
              <a:buNone/>
            </a:pPr>
            <a:r>
              <a:rPr lang="en-US" sz="1400" dirty="0">
                <a:solidFill>
                  <a:srgbClr val="F4A259"/>
                </a:solidFill>
                <a:latin typeface="Calibri" pitchFamily="34" charset="0"/>
                <a:ea typeface="Calibri" pitchFamily="34" charset="-122"/>
                <a:cs typeface="Calibri" pitchFamily="34" charset="-120"/>
              </a:rPr>
              <a:t>campus-baloncesto.web.app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TFG · Campus Baloncesto App</dc:title>
  <dc:subject>PptxGenJS Presentation</dc:subject>
  <dc:creator>Alberto Rodríguez González</dc:creator>
  <cp:lastModifiedBy>Alberto Rodríguez González</cp:lastModifiedBy>
  <cp:revision>1</cp:revision>
  <dcterms:created xsi:type="dcterms:W3CDTF">2026-06-25T16:42:36Z</dcterms:created>
  <dcterms:modified xsi:type="dcterms:W3CDTF">2026-06-25T16:42:36Z</dcterms:modified>
</cp:coreProperties>
</file>